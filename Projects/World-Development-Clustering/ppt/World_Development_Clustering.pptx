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0"/>
            <a:ext cx="3474720" cy="2286000"/>
          </a:xfrm>
          <a:prstGeom prst="rect">
            <a:avLst/>
          </a:prstGeom>
          <a:solidFill>
            <a:srgbClr val="00D4FF">
              <a:alpha val="12000"/>
            </a:srgbClr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01200" y="0"/>
            <a:ext cx="2560320" cy="1097280"/>
          </a:xfrm>
          <a:prstGeom prst="rect">
            <a:avLst/>
          </a:prstGeom>
          <a:solidFill>
            <a:srgbClr val="00D4FF">
              <a:alpha val="2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" y="0"/>
            <a:ext cx="27432" cy="6858000"/>
          </a:xfrm>
          <a:prstGeom prst="rect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793992"/>
            <a:ext cx="12161520" cy="640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371600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28600" y="5943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 ·  UNSUPERVISED CLUSTERING  ·  GLOBAL ANALYTICS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228600" y="100584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WORLD DEVELOPMENT</a:t>
            </a:r>
            <a:endParaRPr lang="en-US" sz="5200" dirty="0"/>
          </a:p>
        </p:txBody>
      </p:sp>
      <p:sp>
        <p:nvSpPr>
          <p:cNvPr id="10" name="Text 7"/>
          <p:cNvSpPr/>
          <p:nvPr/>
        </p:nvSpPr>
        <p:spPr>
          <a:xfrm>
            <a:off x="228600" y="192024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spc="800" kern="0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CLUSTERING</a:t>
            </a:r>
            <a:endParaRPr lang="en-US" sz="5200" dirty="0"/>
          </a:p>
        </p:txBody>
      </p:sp>
      <p:sp>
        <p:nvSpPr>
          <p:cNvPr id="11" name="Text 8"/>
          <p:cNvSpPr/>
          <p:nvPr/>
        </p:nvSpPr>
        <p:spPr>
          <a:xfrm>
            <a:off x="228600" y="297180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Classifying 198 Countries via KMeans, GMM, Hierarchical,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&amp; BIRCH Clustering on 22 Socioeconomic Indicators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28600" y="3977640"/>
            <a:ext cx="1737360" cy="868680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28600" y="3977640"/>
            <a:ext cx="173736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28600" y="4032504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198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228600" y="449884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2148840" y="3977640"/>
            <a:ext cx="1737360" cy="868680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148840" y="3977640"/>
            <a:ext cx="173736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148840" y="4032504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22</a:t>
            </a:r>
            <a:endParaRPr lang="en-US" sz="3000" dirty="0"/>
          </a:p>
        </p:txBody>
      </p:sp>
      <p:sp>
        <p:nvSpPr>
          <p:cNvPr id="19" name="Text 16"/>
          <p:cNvSpPr/>
          <p:nvPr/>
        </p:nvSpPr>
        <p:spPr>
          <a:xfrm>
            <a:off x="2148840" y="449884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069080" y="3977640"/>
            <a:ext cx="1737360" cy="868680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069080" y="3977640"/>
            <a:ext cx="173736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069080" y="4032504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3000" dirty="0"/>
          </a:p>
        </p:txBody>
      </p:sp>
      <p:sp>
        <p:nvSpPr>
          <p:cNvPr id="23" name="Text 20"/>
          <p:cNvSpPr/>
          <p:nvPr/>
        </p:nvSpPr>
        <p:spPr>
          <a:xfrm>
            <a:off x="4069080" y="449884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5989320" y="3977640"/>
            <a:ext cx="1737360" cy="868680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989320" y="3977640"/>
            <a:ext cx="173736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989320" y="4032504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3000" dirty="0"/>
          </a:p>
        </p:txBody>
      </p:sp>
      <p:sp>
        <p:nvSpPr>
          <p:cNvPr id="27" name="Text 24"/>
          <p:cNvSpPr/>
          <p:nvPr/>
        </p:nvSpPr>
        <p:spPr>
          <a:xfrm>
            <a:off x="5989320" y="449884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</a:t>
            </a:r>
            <a:endParaRPr lang="en-US" sz="1100" dirty="0"/>
          </a:p>
        </p:txBody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645920"/>
            <a:ext cx="4206240" cy="420624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7772400" y="123444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Distribution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1216152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68680" y="91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OVERVIEW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914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Objective, Data &amp; Pipeline Architecture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" y="7315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74320" y="1097280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198 world nations into meaningful development clusters using unsupervised machine learning — enabling data-driven policy targeting, resource allocation, and comparative analysis without predefined labels.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2286000"/>
            <a:ext cx="5303520" cy="694944"/>
          </a:xfrm>
          <a:prstGeom prst="rect">
            <a:avLst/>
          </a:prstGeom>
          <a:solidFill>
            <a:srgbClr val="111827"/>
          </a:solidFill>
          <a:ln w="10160">
            <a:solidFill>
              <a:srgbClr val="37415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2286000"/>
            <a:ext cx="54864" cy="694944"/>
          </a:xfrm>
          <a:prstGeom prst="rect">
            <a:avLst/>
          </a:prstGeom>
          <a:solidFill>
            <a:srgbClr val="00D4FF"/>
          </a:solidFill>
          <a:ln w="12700">
            <a:solidFill>
              <a:srgbClr val="0A0E1A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404872"/>
            <a:ext cx="411480" cy="4114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005840" y="233172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Data Ingestion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005840" y="260604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Excel → 198 countries, 22 features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274320" y="3090672"/>
            <a:ext cx="5303520" cy="694944"/>
          </a:xfrm>
          <a:prstGeom prst="rect">
            <a:avLst/>
          </a:prstGeom>
          <a:solidFill>
            <a:srgbClr val="111827"/>
          </a:solidFill>
          <a:ln w="10160">
            <a:solidFill>
              <a:srgbClr val="37415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74320" y="3090672"/>
            <a:ext cx="54864" cy="694944"/>
          </a:xfrm>
          <a:prstGeom prst="rect">
            <a:avLst/>
          </a:prstGeom>
          <a:solidFill>
            <a:srgbClr val="10B981"/>
          </a:solidFill>
          <a:ln w="12700">
            <a:solidFill>
              <a:srgbClr val="0A0E1A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209544"/>
            <a:ext cx="411480" cy="41148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005840" y="313639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Preprocessing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1005840" y="341071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impute, IQR cap, log1p, power-transform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274320" y="3895344"/>
            <a:ext cx="5303520" cy="694944"/>
          </a:xfrm>
          <a:prstGeom prst="rect">
            <a:avLst/>
          </a:prstGeom>
          <a:solidFill>
            <a:srgbClr val="111827"/>
          </a:solidFill>
          <a:ln w="10160">
            <a:solidFill>
              <a:srgbClr val="374151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274320" y="3895344"/>
            <a:ext cx="54864" cy="694944"/>
          </a:xfrm>
          <a:prstGeom prst="rect">
            <a:avLst/>
          </a:prstGeom>
          <a:solidFill>
            <a:srgbClr val="F59E0B"/>
          </a:solidFill>
          <a:ln w="12700">
            <a:solidFill>
              <a:srgbClr val="0A0E1A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014216"/>
            <a:ext cx="411480" cy="41148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005840" y="394106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Feature Engineering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1005840" y="421538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slopes, PCA (90% var), correlation drop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274320" y="4700016"/>
            <a:ext cx="5303520" cy="694944"/>
          </a:xfrm>
          <a:prstGeom prst="rect">
            <a:avLst/>
          </a:prstGeom>
          <a:solidFill>
            <a:srgbClr val="111827"/>
          </a:solidFill>
          <a:ln w="10160">
            <a:solidFill>
              <a:srgbClr val="374151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274320" y="4700016"/>
            <a:ext cx="54864" cy="694944"/>
          </a:xfrm>
          <a:prstGeom prst="rect">
            <a:avLst/>
          </a:prstGeom>
          <a:solidFill>
            <a:srgbClr val="EF4444"/>
          </a:solidFill>
          <a:ln w="12700">
            <a:solidFill>
              <a:srgbClr val="0A0E1A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4818888"/>
            <a:ext cx="411480" cy="41148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005840" y="474573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Clustering × 5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1005840" y="502005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KMeans, GMM, Hierarchical, Spectral, BIRCH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274320" y="5504688"/>
            <a:ext cx="5303520" cy="694944"/>
          </a:xfrm>
          <a:prstGeom prst="rect">
            <a:avLst/>
          </a:prstGeom>
          <a:solidFill>
            <a:srgbClr val="111827"/>
          </a:solidFill>
          <a:ln w="10160">
            <a:solidFill>
              <a:srgbClr val="374151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274320" y="5504688"/>
            <a:ext cx="54864" cy="694944"/>
          </a:xfrm>
          <a:prstGeom prst="rect">
            <a:avLst/>
          </a:prstGeom>
          <a:solidFill>
            <a:srgbClr val="00D4FF"/>
          </a:solidFill>
          <a:ln w="12700">
            <a:solidFill>
              <a:srgbClr val="0A0E1A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5623560"/>
            <a:ext cx="411480" cy="41148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005840" y="555040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Validation</a:t>
            </a:r>
            <a:endParaRPr lang="en-US" sz="1200" dirty="0"/>
          </a:p>
        </p:txBody>
      </p:sp>
      <p:sp>
        <p:nvSpPr>
          <p:cNvPr id="33" name="Text 26"/>
          <p:cNvSpPr/>
          <p:nvPr/>
        </p:nvSpPr>
        <p:spPr>
          <a:xfrm>
            <a:off x="1005840" y="582472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Silhouette, balance ratio, ensemble voting</a:t>
            </a:r>
            <a:endParaRPr lang="en-US" sz="1000" dirty="0"/>
          </a:p>
        </p:txBody>
      </p:sp>
      <p:sp>
        <p:nvSpPr>
          <p:cNvPr id="34" name="Text 27"/>
          <p:cNvSpPr/>
          <p:nvPr/>
        </p:nvSpPr>
        <p:spPr>
          <a:xfrm>
            <a:off x="5943600" y="7315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Snapshot</a:t>
            </a:r>
            <a:endParaRPr lang="en-US" sz="1500" dirty="0"/>
          </a:p>
        </p:txBody>
      </p:sp>
      <p:sp>
        <p:nvSpPr>
          <p:cNvPr id="35" name="Shape 28"/>
          <p:cNvSpPr/>
          <p:nvPr/>
        </p:nvSpPr>
        <p:spPr>
          <a:xfrm>
            <a:off x="5943600" y="1170432"/>
            <a:ext cx="5943600" cy="365760"/>
          </a:xfrm>
          <a:prstGeom prst="rect">
            <a:avLst/>
          </a:prstGeom>
          <a:solidFill>
            <a:srgbClr val="111827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6035040" y="120700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</a:t>
            </a:r>
            <a:endParaRPr lang="en-US" sz="1100" dirty="0"/>
          </a:p>
        </p:txBody>
      </p:sp>
      <p:sp>
        <p:nvSpPr>
          <p:cNvPr id="37" name="Text 30"/>
          <p:cNvSpPr/>
          <p:nvPr/>
        </p:nvSpPr>
        <p:spPr>
          <a:xfrm>
            <a:off x="7406640" y="1207008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Bank — World Development Measurement</a:t>
            </a:r>
            <a:endParaRPr lang="en-US" sz="1100" dirty="0"/>
          </a:p>
        </p:txBody>
      </p:sp>
      <p:sp>
        <p:nvSpPr>
          <p:cNvPr id="38" name="Shape 31"/>
          <p:cNvSpPr/>
          <p:nvPr/>
        </p:nvSpPr>
        <p:spPr>
          <a:xfrm>
            <a:off x="5943600" y="1600200"/>
            <a:ext cx="5943600" cy="365760"/>
          </a:xfrm>
          <a:prstGeom prst="rect">
            <a:avLst/>
          </a:prstGeom>
          <a:solidFill>
            <a:srgbClr val="1F2937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39" name="Text 32"/>
          <p:cNvSpPr/>
          <p:nvPr/>
        </p:nvSpPr>
        <p:spPr>
          <a:xfrm>
            <a:off x="6035040" y="163677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Records:</a:t>
            </a:r>
            <a:endParaRPr lang="en-US" sz="1100" dirty="0"/>
          </a:p>
        </p:txBody>
      </p:sp>
      <p:sp>
        <p:nvSpPr>
          <p:cNvPr id="40" name="Text 33"/>
          <p:cNvSpPr/>
          <p:nvPr/>
        </p:nvSpPr>
        <p:spPr>
          <a:xfrm>
            <a:off x="7406640" y="1636776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 Countries × Multi-year panel</a:t>
            </a:r>
            <a:endParaRPr lang="en-US" sz="1100" dirty="0"/>
          </a:p>
        </p:txBody>
      </p:sp>
      <p:sp>
        <p:nvSpPr>
          <p:cNvPr id="41" name="Shape 34"/>
          <p:cNvSpPr/>
          <p:nvPr/>
        </p:nvSpPr>
        <p:spPr>
          <a:xfrm>
            <a:off x="5943600" y="2029968"/>
            <a:ext cx="5943600" cy="365760"/>
          </a:xfrm>
          <a:prstGeom prst="rect">
            <a:avLst/>
          </a:prstGeom>
          <a:solidFill>
            <a:srgbClr val="111827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42" name="Text 35"/>
          <p:cNvSpPr/>
          <p:nvPr/>
        </p:nvSpPr>
        <p:spPr>
          <a:xfrm>
            <a:off x="6035040" y="206654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</a:t>
            </a:r>
            <a:endParaRPr lang="en-US" sz="1100" dirty="0"/>
          </a:p>
        </p:txBody>
      </p:sp>
      <p:sp>
        <p:nvSpPr>
          <p:cNvPr id="43" name="Text 36"/>
          <p:cNvSpPr/>
          <p:nvPr/>
        </p:nvSpPr>
        <p:spPr>
          <a:xfrm>
            <a:off x="7406640" y="2066544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socioeconomic indicators</a:t>
            </a:r>
            <a:endParaRPr lang="en-US" sz="1100" dirty="0"/>
          </a:p>
        </p:txBody>
      </p:sp>
      <p:sp>
        <p:nvSpPr>
          <p:cNvPr id="44" name="Shape 37"/>
          <p:cNvSpPr/>
          <p:nvPr/>
        </p:nvSpPr>
        <p:spPr>
          <a:xfrm>
            <a:off x="5943600" y="2459736"/>
            <a:ext cx="5943600" cy="365760"/>
          </a:xfrm>
          <a:prstGeom prst="rect">
            <a:avLst/>
          </a:prstGeom>
          <a:solidFill>
            <a:srgbClr val="1F2937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45" name="Text 38"/>
          <p:cNvSpPr/>
          <p:nvPr/>
        </p:nvSpPr>
        <p:spPr>
          <a:xfrm>
            <a:off x="6035040" y="24963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</a:t>
            </a:r>
            <a:endParaRPr lang="en-US" sz="1100" dirty="0"/>
          </a:p>
        </p:txBody>
      </p:sp>
      <p:sp>
        <p:nvSpPr>
          <p:cNvPr id="46" name="Text 39"/>
          <p:cNvSpPr/>
          <p:nvPr/>
        </p:nvSpPr>
        <p:spPr>
          <a:xfrm>
            <a:off x="7406640" y="249631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(no ground truth)</a:t>
            </a:r>
            <a:endParaRPr lang="en-US" sz="1100" dirty="0"/>
          </a:p>
        </p:txBody>
      </p:sp>
      <p:sp>
        <p:nvSpPr>
          <p:cNvPr id="47" name="Shape 40"/>
          <p:cNvSpPr/>
          <p:nvPr/>
        </p:nvSpPr>
        <p:spPr>
          <a:xfrm>
            <a:off x="5943600" y="2889504"/>
            <a:ext cx="5943600" cy="365760"/>
          </a:xfrm>
          <a:prstGeom prst="rect">
            <a:avLst/>
          </a:prstGeom>
          <a:solidFill>
            <a:srgbClr val="111827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48" name="Text 41"/>
          <p:cNvSpPr/>
          <p:nvPr/>
        </p:nvSpPr>
        <p:spPr>
          <a:xfrm>
            <a:off x="6035040" y="292608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Algorithms:</a:t>
            </a:r>
            <a:endParaRPr lang="en-US" sz="1100" dirty="0"/>
          </a:p>
        </p:txBody>
      </p:sp>
      <p:sp>
        <p:nvSpPr>
          <p:cNvPr id="49" name="Text 42"/>
          <p:cNvSpPr/>
          <p:nvPr/>
        </p:nvSpPr>
        <p:spPr>
          <a:xfrm>
            <a:off x="7406640" y="292608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clustering models, ensemble labeling</a:t>
            </a:r>
            <a:endParaRPr lang="en-US" sz="1100" dirty="0"/>
          </a:p>
        </p:txBody>
      </p:sp>
      <p:sp>
        <p:nvSpPr>
          <p:cNvPr id="50" name="Shape 43"/>
          <p:cNvSpPr/>
          <p:nvPr/>
        </p:nvSpPr>
        <p:spPr>
          <a:xfrm>
            <a:off x="5943600" y="3319272"/>
            <a:ext cx="5943600" cy="365760"/>
          </a:xfrm>
          <a:prstGeom prst="rect">
            <a:avLst/>
          </a:prstGeom>
          <a:solidFill>
            <a:srgbClr val="1F2937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51" name="Text 44"/>
          <p:cNvSpPr/>
          <p:nvPr/>
        </p:nvSpPr>
        <p:spPr>
          <a:xfrm>
            <a:off x="6035040" y="335584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1100" dirty="0"/>
          </a:p>
        </p:txBody>
      </p:sp>
      <p:sp>
        <p:nvSpPr>
          <p:cNvPr id="52" name="Text 45"/>
          <p:cNvSpPr/>
          <p:nvPr/>
        </p:nvSpPr>
        <p:spPr>
          <a:xfrm>
            <a:off x="7406640" y="3355848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development tiers per country</a:t>
            </a:r>
            <a:endParaRPr lang="en-US" sz="1100" dirty="0"/>
          </a:p>
        </p:txBody>
      </p:sp>
      <p:pic>
        <p:nvPicPr>
          <p:cNvPr id="5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0" y="3657600"/>
            <a:ext cx="5029200" cy="2971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1216152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68680" y="914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CLUSTER PROFILES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914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Tier Characteristics &amp; Representative Nations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685800"/>
            <a:ext cx="3749040" cy="960120"/>
          </a:xfrm>
          <a:prstGeom prst="rect">
            <a:avLst/>
          </a:prstGeom>
          <a:solidFill>
            <a:srgbClr val="00D4FF">
              <a:alpha val="15000"/>
            </a:srgbClr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685800"/>
            <a:ext cx="3749040" cy="640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804672"/>
            <a:ext cx="475488" cy="47548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60120" y="73152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DEVELOPED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60120" y="109728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Countries  ·  14% of World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74320" y="1783080"/>
            <a:ext cx="1837944" cy="475488"/>
          </a:xfrm>
          <a:prstGeom prst="rect">
            <a:avLst/>
          </a:prstGeom>
          <a:solidFill>
            <a:srgbClr val="111827"/>
          </a:solidFill>
          <a:ln w="8890">
            <a:solidFill>
              <a:srgbClr val="37415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20040" y="18013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+1.21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320040" y="203911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GDP (z)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2167128" y="1783080"/>
            <a:ext cx="1837944" cy="475488"/>
          </a:xfrm>
          <a:prstGeom prst="rect">
            <a:avLst/>
          </a:prstGeom>
          <a:solidFill>
            <a:srgbClr val="111827"/>
          </a:solidFill>
          <a:ln w="8890">
            <a:solidFill>
              <a:srgbClr val="37415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212848" y="18013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+1.68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2212848" y="203911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Usage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274320" y="2331720"/>
            <a:ext cx="1837944" cy="475488"/>
          </a:xfrm>
          <a:prstGeom prst="rect">
            <a:avLst/>
          </a:prstGeom>
          <a:solidFill>
            <a:srgbClr val="111827"/>
          </a:solidFill>
          <a:ln w="8890">
            <a:solidFill>
              <a:srgbClr val="37415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20040" y="235000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+1.18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320040" y="258775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Exp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2167128" y="2331720"/>
            <a:ext cx="1837944" cy="475488"/>
          </a:xfrm>
          <a:prstGeom prst="rect">
            <a:avLst/>
          </a:prstGeom>
          <a:solidFill>
            <a:srgbClr val="111827"/>
          </a:solidFill>
          <a:ln w="8890">
            <a:solidFill>
              <a:srgbClr val="37415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212848" y="235000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+1.66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2212848" y="258775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 65+ (z)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274320" y="2880360"/>
            <a:ext cx="1837944" cy="475488"/>
          </a:xfrm>
          <a:prstGeom prst="rect">
            <a:avLst/>
          </a:prstGeom>
          <a:solidFill>
            <a:srgbClr val="111827"/>
          </a:solidFill>
          <a:ln w="8890">
            <a:solidFill>
              <a:srgbClr val="374151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20040" y="289864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−0.98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320040" y="313639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Birth Rate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2167128" y="2880360"/>
            <a:ext cx="1837944" cy="475488"/>
          </a:xfrm>
          <a:prstGeom prst="rect">
            <a:avLst/>
          </a:prstGeom>
          <a:solidFill>
            <a:srgbClr val="111827"/>
          </a:solidFill>
          <a:ln w="8890">
            <a:solidFill>
              <a:srgbClr val="374151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212848" y="289864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−0.98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2212848" y="313639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Infant Mortality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274320" y="3429000"/>
            <a:ext cx="3749040" cy="777240"/>
          </a:xfrm>
          <a:prstGeom prst="rect">
            <a:avLst/>
          </a:prstGeom>
          <a:solidFill>
            <a:srgbClr val="1F2937"/>
          </a:solidFill>
          <a:ln w="8890">
            <a:solidFill>
              <a:srgbClr val="37415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65760" y="345643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NATIONS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365760" y="36576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Australia, Austria, Belgium, Canada, Denmark, Finland, France, Germany, Japan, USA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274320" y="4297680"/>
            <a:ext cx="3749040" cy="914400"/>
          </a:xfrm>
          <a:prstGeom prst="rect">
            <a:avLst/>
          </a:prstGeom>
          <a:solidFill>
            <a:srgbClr val="00D4FF">
              <a:alpha val="8000"/>
            </a:srgbClr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84048" y="4334256"/>
            <a:ext cx="35295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i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High-income economies with advanced healthcare, digital infrastructure, aging populations, and strong industrial output.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4251960" y="685800"/>
            <a:ext cx="3749040" cy="960120"/>
          </a:xfrm>
          <a:prstGeom prst="rect">
            <a:avLst/>
          </a:prstGeom>
          <a:solidFill>
            <a:srgbClr val="F59E0B">
              <a:alpha val="15000"/>
            </a:srgbClr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251960" y="685800"/>
            <a:ext cx="374904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3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804672"/>
            <a:ext cx="475488" cy="475488"/>
          </a:xfrm>
          <a:prstGeom prst="rect">
            <a:avLst/>
          </a:prstGeom>
        </p:spPr>
      </p:pic>
      <p:sp>
        <p:nvSpPr>
          <p:cNvPr id="38" name="Text 34"/>
          <p:cNvSpPr/>
          <p:nvPr/>
        </p:nvSpPr>
        <p:spPr>
          <a:xfrm>
            <a:off x="4937760" y="73152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DEVELOPING</a:t>
            </a:r>
            <a:endParaRPr lang="en-US" sz="1600" dirty="0"/>
          </a:p>
        </p:txBody>
      </p:sp>
      <p:sp>
        <p:nvSpPr>
          <p:cNvPr id="39" name="Text 35"/>
          <p:cNvSpPr/>
          <p:nvPr/>
        </p:nvSpPr>
        <p:spPr>
          <a:xfrm>
            <a:off x="4937760" y="109728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103 Countries  ·  52% of World</a:t>
            </a:r>
            <a:endParaRPr lang="en-US" sz="1000" dirty="0"/>
          </a:p>
        </p:txBody>
      </p:sp>
      <p:sp>
        <p:nvSpPr>
          <p:cNvPr id="40" name="Shape 36"/>
          <p:cNvSpPr/>
          <p:nvPr/>
        </p:nvSpPr>
        <p:spPr>
          <a:xfrm>
            <a:off x="4251960" y="1783080"/>
            <a:ext cx="1837944" cy="475488"/>
          </a:xfrm>
          <a:prstGeom prst="rect">
            <a:avLst/>
          </a:prstGeom>
          <a:solidFill>
            <a:srgbClr val="111827"/>
          </a:solidFill>
          <a:ln w="8890">
            <a:solidFill>
              <a:srgbClr val="374151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4297680" y="18013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+0.14</a:t>
            </a:r>
            <a:endParaRPr lang="en-US" sz="1500" dirty="0"/>
          </a:p>
        </p:txBody>
      </p:sp>
      <p:sp>
        <p:nvSpPr>
          <p:cNvPr id="42" name="Text 38"/>
          <p:cNvSpPr/>
          <p:nvPr/>
        </p:nvSpPr>
        <p:spPr>
          <a:xfrm>
            <a:off x="4297680" y="203911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GDP (z)</a:t>
            </a:r>
            <a:endParaRPr lang="en-US" sz="850" dirty="0"/>
          </a:p>
        </p:txBody>
      </p:sp>
      <p:sp>
        <p:nvSpPr>
          <p:cNvPr id="43" name="Shape 39"/>
          <p:cNvSpPr/>
          <p:nvPr/>
        </p:nvSpPr>
        <p:spPr>
          <a:xfrm>
            <a:off x="6144768" y="1783080"/>
            <a:ext cx="1837944" cy="475488"/>
          </a:xfrm>
          <a:prstGeom prst="rect">
            <a:avLst/>
          </a:prstGeom>
          <a:solidFill>
            <a:srgbClr val="111827"/>
          </a:solidFill>
          <a:ln w="8890">
            <a:solidFill>
              <a:srgbClr val="374151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6190488" y="18013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+0.11</a:t>
            </a:r>
            <a:endParaRPr lang="en-US" sz="1500" dirty="0"/>
          </a:p>
        </p:txBody>
      </p:sp>
      <p:sp>
        <p:nvSpPr>
          <p:cNvPr id="45" name="Text 41"/>
          <p:cNvSpPr/>
          <p:nvPr/>
        </p:nvSpPr>
        <p:spPr>
          <a:xfrm>
            <a:off x="6190488" y="203911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Usage</a:t>
            </a:r>
            <a:endParaRPr lang="en-US" sz="850" dirty="0"/>
          </a:p>
        </p:txBody>
      </p:sp>
      <p:sp>
        <p:nvSpPr>
          <p:cNvPr id="46" name="Shape 42"/>
          <p:cNvSpPr/>
          <p:nvPr/>
        </p:nvSpPr>
        <p:spPr>
          <a:xfrm>
            <a:off x="4251960" y="2331720"/>
            <a:ext cx="1837944" cy="475488"/>
          </a:xfrm>
          <a:prstGeom prst="rect">
            <a:avLst/>
          </a:prstGeom>
          <a:solidFill>
            <a:srgbClr val="111827"/>
          </a:solidFill>
          <a:ln w="8890">
            <a:solidFill>
              <a:srgbClr val="374151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4297680" y="235000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−0.24</a:t>
            </a:r>
            <a:endParaRPr lang="en-US" sz="1500" dirty="0"/>
          </a:p>
        </p:txBody>
      </p:sp>
      <p:sp>
        <p:nvSpPr>
          <p:cNvPr id="48" name="Text 44"/>
          <p:cNvSpPr/>
          <p:nvPr/>
        </p:nvSpPr>
        <p:spPr>
          <a:xfrm>
            <a:off x="4297680" y="258775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Exp</a:t>
            </a:r>
            <a:endParaRPr lang="en-US" sz="850" dirty="0"/>
          </a:p>
        </p:txBody>
      </p:sp>
      <p:sp>
        <p:nvSpPr>
          <p:cNvPr id="49" name="Shape 45"/>
          <p:cNvSpPr/>
          <p:nvPr/>
        </p:nvSpPr>
        <p:spPr>
          <a:xfrm>
            <a:off x="6144768" y="2331720"/>
            <a:ext cx="1837944" cy="475488"/>
          </a:xfrm>
          <a:prstGeom prst="rect">
            <a:avLst/>
          </a:prstGeom>
          <a:solidFill>
            <a:srgbClr val="111827"/>
          </a:solidFill>
          <a:ln w="8890">
            <a:solidFill>
              <a:srgbClr val="374151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6190488" y="235000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+0.07</a:t>
            </a:r>
            <a:endParaRPr lang="en-US" sz="1500" dirty="0"/>
          </a:p>
        </p:txBody>
      </p:sp>
      <p:sp>
        <p:nvSpPr>
          <p:cNvPr id="51" name="Text 47"/>
          <p:cNvSpPr/>
          <p:nvPr/>
        </p:nvSpPr>
        <p:spPr>
          <a:xfrm>
            <a:off x="6190488" y="258775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 65+ (z)</a:t>
            </a:r>
            <a:endParaRPr lang="en-US" sz="850" dirty="0"/>
          </a:p>
        </p:txBody>
      </p:sp>
      <p:sp>
        <p:nvSpPr>
          <p:cNvPr id="52" name="Shape 48"/>
          <p:cNvSpPr/>
          <p:nvPr/>
        </p:nvSpPr>
        <p:spPr>
          <a:xfrm>
            <a:off x="4251960" y="2880360"/>
            <a:ext cx="1837944" cy="475488"/>
          </a:xfrm>
          <a:prstGeom prst="rect">
            <a:avLst/>
          </a:prstGeom>
          <a:solidFill>
            <a:srgbClr val="111827"/>
          </a:solidFill>
          <a:ln w="8890">
            <a:solidFill>
              <a:srgbClr val="374151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4297680" y="289864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−0.48</a:t>
            </a:r>
            <a:endParaRPr lang="en-US" sz="1500" dirty="0"/>
          </a:p>
        </p:txBody>
      </p:sp>
      <p:sp>
        <p:nvSpPr>
          <p:cNvPr id="54" name="Text 50"/>
          <p:cNvSpPr/>
          <p:nvPr/>
        </p:nvSpPr>
        <p:spPr>
          <a:xfrm>
            <a:off x="4297680" y="313639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Birth Rate</a:t>
            </a:r>
            <a:endParaRPr lang="en-US" sz="850" dirty="0"/>
          </a:p>
        </p:txBody>
      </p:sp>
      <p:sp>
        <p:nvSpPr>
          <p:cNvPr id="55" name="Shape 51"/>
          <p:cNvSpPr/>
          <p:nvPr/>
        </p:nvSpPr>
        <p:spPr>
          <a:xfrm>
            <a:off x="6144768" y="2880360"/>
            <a:ext cx="1837944" cy="475488"/>
          </a:xfrm>
          <a:prstGeom prst="rect">
            <a:avLst/>
          </a:prstGeom>
          <a:solidFill>
            <a:srgbClr val="111827"/>
          </a:solidFill>
          <a:ln w="8890">
            <a:solidFill>
              <a:srgbClr val="374151"/>
            </a:solidFill>
            <a:prstDash val="solid"/>
          </a:ln>
        </p:spPr>
      </p:sp>
      <p:sp>
        <p:nvSpPr>
          <p:cNvPr id="56" name="Text 52"/>
          <p:cNvSpPr/>
          <p:nvPr/>
        </p:nvSpPr>
        <p:spPr>
          <a:xfrm>
            <a:off x="6190488" y="289864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−0.46</a:t>
            </a:r>
            <a:endParaRPr lang="en-US" sz="1500" dirty="0"/>
          </a:p>
        </p:txBody>
      </p:sp>
      <p:sp>
        <p:nvSpPr>
          <p:cNvPr id="57" name="Text 53"/>
          <p:cNvSpPr/>
          <p:nvPr/>
        </p:nvSpPr>
        <p:spPr>
          <a:xfrm>
            <a:off x="6190488" y="313639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Infant Mortality</a:t>
            </a:r>
            <a:endParaRPr lang="en-US" sz="850" dirty="0"/>
          </a:p>
        </p:txBody>
      </p:sp>
      <p:sp>
        <p:nvSpPr>
          <p:cNvPr id="58" name="Shape 54"/>
          <p:cNvSpPr/>
          <p:nvPr/>
        </p:nvSpPr>
        <p:spPr>
          <a:xfrm>
            <a:off x="4251960" y="3429000"/>
            <a:ext cx="3749040" cy="777240"/>
          </a:xfrm>
          <a:prstGeom prst="rect">
            <a:avLst/>
          </a:prstGeom>
          <a:solidFill>
            <a:srgbClr val="1F2937"/>
          </a:solidFill>
          <a:ln w="8890">
            <a:solidFill>
              <a:srgbClr val="374151"/>
            </a:solidFill>
            <a:prstDash val="solid"/>
          </a:ln>
        </p:spPr>
      </p:sp>
      <p:sp>
        <p:nvSpPr>
          <p:cNvPr id="59" name="Text 55"/>
          <p:cNvSpPr/>
          <p:nvPr/>
        </p:nvSpPr>
        <p:spPr>
          <a:xfrm>
            <a:off x="4343400" y="345643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NATIONS</a:t>
            </a:r>
            <a:endParaRPr lang="en-US" sz="800" dirty="0"/>
          </a:p>
        </p:txBody>
      </p:sp>
      <p:sp>
        <p:nvSpPr>
          <p:cNvPr id="60" name="Text 56"/>
          <p:cNvSpPr/>
          <p:nvPr/>
        </p:nvSpPr>
        <p:spPr>
          <a:xfrm>
            <a:off x="4343400" y="36576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Algeria, Argentina, Brazil, China, India, Indonesia, Mexico, South Africa, Turkey, Vietnam</a:t>
            </a:r>
            <a:endParaRPr lang="en-US" sz="950" dirty="0"/>
          </a:p>
        </p:txBody>
      </p:sp>
      <p:sp>
        <p:nvSpPr>
          <p:cNvPr id="61" name="Shape 57"/>
          <p:cNvSpPr/>
          <p:nvPr/>
        </p:nvSpPr>
        <p:spPr>
          <a:xfrm>
            <a:off x="4251960" y="4297680"/>
            <a:ext cx="3749040" cy="914400"/>
          </a:xfrm>
          <a:prstGeom prst="rect">
            <a:avLst/>
          </a:prstGeom>
          <a:solidFill>
            <a:srgbClr val="F59E0B">
              <a:alpha val="8000"/>
            </a:srgbClr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62" name="Text 58"/>
          <p:cNvSpPr/>
          <p:nvPr/>
        </p:nvSpPr>
        <p:spPr>
          <a:xfrm>
            <a:off x="4361688" y="4334256"/>
            <a:ext cx="35295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i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 economies with moderate infrastructure growth, transitioning demographics, and rising digital adoption.</a:t>
            </a:r>
            <a:endParaRPr lang="en-US" sz="1050" dirty="0"/>
          </a:p>
        </p:txBody>
      </p:sp>
      <p:sp>
        <p:nvSpPr>
          <p:cNvPr id="63" name="Shape 59"/>
          <p:cNvSpPr/>
          <p:nvPr/>
        </p:nvSpPr>
        <p:spPr>
          <a:xfrm>
            <a:off x="8229600" y="685800"/>
            <a:ext cx="3749040" cy="960120"/>
          </a:xfrm>
          <a:prstGeom prst="rect">
            <a:avLst/>
          </a:prstGeom>
          <a:solidFill>
            <a:srgbClr val="EF4444">
              <a:alpha val="15000"/>
            </a:srgbClr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64" name="Shape 60"/>
          <p:cNvSpPr/>
          <p:nvPr/>
        </p:nvSpPr>
        <p:spPr>
          <a:xfrm>
            <a:off x="8229600" y="685800"/>
            <a:ext cx="374904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6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804672"/>
            <a:ext cx="475488" cy="475488"/>
          </a:xfrm>
          <a:prstGeom prst="rect">
            <a:avLst/>
          </a:prstGeom>
        </p:spPr>
      </p:pic>
      <p:sp>
        <p:nvSpPr>
          <p:cNvPr id="66" name="Text 61"/>
          <p:cNvSpPr/>
          <p:nvPr/>
        </p:nvSpPr>
        <p:spPr>
          <a:xfrm>
            <a:off x="8915400" y="73152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UNDERDEVELOPED</a:t>
            </a:r>
            <a:endParaRPr lang="en-US" sz="1600" dirty="0"/>
          </a:p>
        </p:txBody>
      </p:sp>
      <p:sp>
        <p:nvSpPr>
          <p:cNvPr id="67" name="Text 62"/>
          <p:cNvSpPr/>
          <p:nvPr/>
        </p:nvSpPr>
        <p:spPr>
          <a:xfrm>
            <a:off x="8915400" y="109728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 Countries  ·  34% of World</a:t>
            </a:r>
            <a:endParaRPr lang="en-US" sz="1000" dirty="0"/>
          </a:p>
        </p:txBody>
      </p:sp>
      <p:sp>
        <p:nvSpPr>
          <p:cNvPr id="68" name="Shape 63"/>
          <p:cNvSpPr/>
          <p:nvPr/>
        </p:nvSpPr>
        <p:spPr>
          <a:xfrm>
            <a:off x="8229600" y="1783080"/>
            <a:ext cx="1837944" cy="475488"/>
          </a:xfrm>
          <a:prstGeom prst="rect">
            <a:avLst/>
          </a:prstGeom>
          <a:solidFill>
            <a:srgbClr val="111827"/>
          </a:solidFill>
          <a:ln w="8890">
            <a:solidFill>
              <a:srgbClr val="374151"/>
            </a:solidFill>
            <a:prstDash val="solid"/>
          </a:ln>
        </p:spPr>
      </p:sp>
      <p:sp>
        <p:nvSpPr>
          <p:cNvPr id="69" name="Text 64"/>
          <p:cNvSpPr/>
          <p:nvPr/>
        </p:nvSpPr>
        <p:spPr>
          <a:xfrm>
            <a:off x="8275320" y="18013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−0.72</a:t>
            </a:r>
            <a:endParaRPr lang="en-US" sz="1500" dirty="0"/>
          </a:p>
        </p:txBody>
      </p:sp>
      <p:sp>
        <p:nvSpPr>
          <p:cNvPr id="70" name="Text 65"/>
          <p:cNvSpPr/>
          <p:nvPr/>
        </p:nvSpPr>
        <p:spPr>
          <a:xfrm>
            <a:off x="8275320" y="203911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GDP (z)</a:t>
            </a:r>
            <a:endParaRPr lang="en-US" sz="850" dirty="0"/>
          </a:p>
        </p:txBody>
      </p:sp>
      <p:sp>
        <p:nvSpPr>
          <p:cNvPr id="71" name="Shape 66"/>
          <p:cNvSpPr/>
          <p:nvPr/>
        </p:nvSpPr>
        <p:spPr>
          <a:xfrm>
            <a:off x="10122408" y="1783080"/>
            <a:ext cx="1837944" cy="475488"/>
          </a:xfrm>
          <a:prstGeom prst="rect">
            <a:avLst/>
          </a:prstGeom>
          <a:solidFill>
            <a:srgbClr val="111827"/>
          </a:solidFill>
          <a:ln w="8890">
            <a:solidFill>
              <a:srgbClr val="374151"/>
            </a:solidFill>
            <a:prstDash val="solid"/>
          </a:ln>
        </p:spPr>
      </p:sp>
      <p:sp>
        <p:nvSpPr>
          <p:cNvPr id="72" name="Text 67"/>
          <p:cNvSpPr/>
          <p:nvPr/>
        </p:nvSpPr>
        <p:spPr>
          <a:xfrm>
            <a:off x="10168128" y="18013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−0.88</a:t>
            </a:r>
            <a:endParaRPr lang="en-US" sz="1500" dirty="0"/>
          </a:p>
        </p:txBody>
      </p:sp>
      <p:sp>
        <p:nvSpPr>
          <p:cNvPr id="73" name="Text 68"/>
          <p:cNvSpPr/>
          <p:nvPr/>
        </p:nvSpPr>
        <p:spPr>
          <a:xfrm>
            <a:off x="10168128" y="203911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Usage</a:t>
            </a:r>
            <a:endParaRPr lang="en-US" sz="850" dirty="0"/>
          </a:p>
        </p:txBody>
      </p:sp>
      <p:sp>
        <p:nvSpPr>
          <p:cNvPr id="74" name="Shape 69"/>
          <p:cNvSpPr/>
          <p:nvPr/>
        </p:nvSpPr>
        <p:spPr>
          <a:xfrm>
            <a:off x="8229600" y="2331720"/>
            <a:ext cx="1837944" cy="475488"/>
          </a:xfrm>
          <a:prstGeom prst="rect">
            <a:avLst/>
          </a:prstGeom>
          <a:solidFill>
            <a:srgbClr val="111827"/>
          </a:solidFill>
          <a:ln w="8890">
            <a:solidFill>
              <a:srgbClr val="374151"/>
            </a:solidFill>
            <a:prstDash val="solid"/>
          </a:ln>
        </p:spPr>
      </p:sp>
      <p:sp>
        <p:nvSpPr>
          <p:cNvPr id="75" name="Text 70"/>
          <p:cNvSpPr/>
          <p:nvPr/>
        </p:nvSpPr>
        <p:spPr>
          <a:xfrm>
            <a:off x="8275320" y="235000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−0.12</a:t>
            </a:r>
            <a:endParaRPr lang="en-US" sz="1500" dirty="0"/>
          </a:p>
        </p:txBody>
      </p:sp>
      <p:sp>
        <p:nvSpPr>
          <p:cNvPr id="76" name="Text 71"/>
          <p:cNvSpPr/>
          <p:nvPr/>
        </p:nvSpPr>
        <p:spPr>
          <a:xfrm>
            <a:off x="8275320" y="258775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Exp</a:t>
            </a:r>
            <a:endParaRPr lang="en-US" sz="850" dirty="0"/>
          </a:p>
        </p:txBody>
      </p:sp>
      <p:sp>
        <p:nvSpPr>
          <p:cNvPr id="77" name="Shape 72"/>
          <p:cNvSpPr/>
          <p:nvPr/>
        </p:nvSpPr>
        <p:spPr>
          <a:xfrm>
            <a:off x="10122408" y="2331720"/>
            <a:ext cx="1837944" cy="475488"/>
          </a:xfrm>
          <a:prstGeom prst="rect">
            <a:avLst/>
          </a:prstGeom>
          <a:solidFill>
            <a:srgbClr val="111827"/>
          </a:solidFill>
          <a:ln w="8890">
            <a:solidFill>
              <a:srgbClr val="374151"/>
            </a:solidFill>
            <a:prstDash val="solid"/>
          </a:ln>
        </p:spPr>
      </p:sp>
      <p:sp>
        <p:nvSpPr>
          <p:cNvPr id="78" name="Text 73"/>
          <p:cNvSpPr/>
          <p:nvPr/>
        </p:nvSpPr>
        <p:spPr>
          <a:xfrm>
            <a:off x="10168128" y="235000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−0.80</a:t>
            </a:r>
            <a:endParaRPr lang="en-US" sz="1500" dirty="0"/>
          </a:p>
        </p:txBody>
      </p:sp>
      <p:sp>
        <p:nvSpPr>
          <p:cNvPr id="79" name="Text 74"/>
          <p:cNvSpPr/>
          <p:nvPr/>
        </p:nvSpPr>
        <p:spPr>
          <a:xfrm>
            <a:off x="10168128" y="258775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 65+ (z)</a:t>
            </a:r>
            <a:endParaRPr lang="en-US" sz="850" dirty="0"/>
          </a:p>
        </p:txBody>
      </p:sp>
      <p:sp>
        <p:nvSpPr>
          <p:cNvPr id="80" name="Shape 75"/>
          <p:cNvSpPr/>
          <p:nvPr/>
        </p:nvSpPr>
        <p:spPr>
          <a:xfrm>
            <a:off x="8229600" y="2880360"/>
            <a:ext cx="1837944" cy="475488"/>
          </a:xfrm>
          <a:prstGeom prst="rect">
            <a:avLst/>
          </a:prstGeom>
          <a:solidFill>
            <a:srgbClr val="111827"/>
          </a:solidFill>
          <a:ln w="8890">
            <a:solidFill>
              <a:srgbClr val="374151"/>
            </a:solidFill>
            <a:prstDash val="solid"/>
          </a:ln>
        </p:spPr>
      </p:sp>
      <p:sp>
        <p:nvSpPr>
          <p:cNvPr id="81" name="Text 76"/>
          <p:cNvSpPr/>
          <p:nvPr/>
        </p:nvSpPr>
        <p:spPr>
          <a:xfrm>
            <a:off x="8275320" y="289864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+1.14</a:t>
            </a:r>
            <a:endParaRPr lang="en-US" sz="1500" dirty="0"/>
          </a:p>
        </p:txBody>
      </p:sp>
      <p:sp>
        <p:nvSpPr>
          <p:cNvPr id="82" name="Text 77"/>
          <p:cNvSpPr/>
          <p:nvPr/>
        </p:nvSpPr>
        <p:spPr>
          <a:xfrm>
            <a:off x="8275320" y="313639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Birth Rate</a:t>
            </a:r>
            <a:endParaRPr lang="en-US" sz="850" dirty="0"/>
          </a:p>
        </p:txBody>
      </p:sp>
      <p:sp>
        <p:nvSpPr>
          <p:cNvPr id="83" name="Shape 78"/>
          <p:cNvSpPr/>
          <p:nvPr/>
        </p:nvSpPr>
        <p:spPr>
          <a:xfrm>
            <a:off x="10122408" y="2880360"/>
            <a:ext cx="1837944" cy="475488"/>
          </a:xfrm>
          <a:prstGeom prst="rect">
            <a:avLst/>
          </a:prstGeom>
          <a:solidFill>
            <a:srgbClr val="111827"/>
          </a:solidFill>
          <a:ln w="8890">
            <a:solidFill>
              <a:srgbClr val="374151"/>
            </a:solidFill>
            <a:prstDash val="solid"/>
          </a:ln>
        </p:spPr>
      </p:sp>
      <p:sp>
        <p:nvSpPr>
          <p:cNvPr id="84" name="Text 79"/>
          <p:cNvSpPr/>
          <p:nvPr/>
        </p:nvSpPr>
        <p:spPr>
          <a:xfrm>
            <a:off x="10168128" y="289864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+1.12</a:t>
            </a:r>
            <a:endParaRPr lang="en-US" sz="1500" dirty="0"/>
          </a:p>
        </p:txBody>
      </p:sp>
      <p:sp>
        <p:nvSpPr>
          <p:cNvPr id="85" name="Text 80"/>
          <p:cNvSpPr/>
          <p:nvPr/>
        </p:nvSpPr>
        <p:spPr>
          <a:xfrm>
            <a:off x="10168128" y="313639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Infant Mortality</a:t>
            </a:r>
            <a:endParaRPr lang="en-US" sz="850" dirty="0"/>
          </a:p>
        </p:txBody>
      </p:sp>
      <p:sp>
        <p:nvSpPr>
          <p:cNvPr id="86" name="Shape 81"/>
          <p:cNvSpPr/>
          <p:nvPr/>
        </p:nvSpPr>
        <p:spPr>
          <a:xfrm>
            <a:off x="8229600" y="3429000"/>
            <a:ext cx="3749040" cy="777240"/>
          </a:xfrm>
          <a:prstGeom prst="rect">
            <a:avLst/>
          </a:prstGeom>
          <a:solidFill>
            <a:srgbClr val="1F2937"/>
          </a:solidFill>
          <a:ln w="8890">
            <a:solidFill>
              <a:srgbClr val="374151"/>
            </a:solidFill>
            <a:prstDash val="solid"/>
          </a:ln>
        </p:spPr>
      </p:sp>
      <p:sp>
        <p:nvSpPr>
          <p:cNvPr id="87" name="Text 82"/>
          <p:cNvSpPr/>
          <p:nvPr/>
        </p:nvSpPr>
        <p:spPr>
          <a:xfrm>
            <a:off x="8321040" y="345643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NATIONS</a:t>
            </a:r>
            <a:endParaRPr lang="en-US" sz="800" dirty="0"/>
          </a:p>
        </p:txBody>
      </p:sp>
      <p:sp>
        <p:nvSpPr>
          <p:cNvPr id="88" name="Text 83"/>
          <p:cNvSpPr/>
          <p:nvPr/>
        </p:nvSpPr>
        <p:spPr>
          <a:xfrm>
            <a:off x="8321040" y="36576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Afghanistan, Angola, Burkina Faso, Burundi, Cambodia, Chad, DR Congo, Ethiopia, Mali, Yemen</a:t>
            </a:r>
            <a:endParaRPr lang="en-US" sz="950" dirty="0"/>
          </a:p>
        </p:txBody>
      </p:sp>
      <p:sp>
        <p:nvSpPr>
          <p:cNvPr id="89" name="Shape 84"/>
          <p:cNvSpPr/>
          <p:nvPr/>
        </p:nvSpPr>
        <p:spPr>
          <a:xfrm>
            <a:off x="8229600" y="4297680"/>
            <a:ext cx="3749040" cy="914400"/>
          </a:xfrm>
          <a:prstGeom prst="rect">
            <a:avLst/>
          </a:prstGeom>
          <a:solidFill>
            <a:srgbClr val="EF4444">
              <a:alpha val="8000"/>
            </a:srgbClr>
          </a:solidFill>
          <a:ln w="10160">
            <a:solidFill>
              <a:srgbClr val="EF4444"/>
            </a:solidFill>
            <a:prstDash val="solid"/>
          </a:ln>
        </p:spPr>
      </p:sp>
      <p:sp>
        <p:nvSpPr>
          <p:cNvPr id="90" name="Text 85"/>
          <p:cNvSpPr/>
          <p:nvPr/>
        </p:nvSpPr>
        <p:spPr>
          <a:xfrm>
            <a:off x="8339328" y="4334256"/>
            <a:ext cx="35295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i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Low-income nations facing high birth rates, infant mortality, low internet access and limited healthcare investment.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1216152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68680" y="914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FEATURE ANALYSIS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685800"/>
            <a:ext cx="7132320" cy="34747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589520" y="68580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 Insights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589520" y="1115568"/>
            <a:ext cx="4297680" cy="868680"/>
          </a:xfrm>
          <a:prstGeom prst="rect">
            <a:avLst/>
          </a:prstGeom>
          <a:solidFill>
            <a:srgbClr val="111827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589520" y="1115568"/>
            <a:ext cx="64008" cy="8686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0" y="117043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772400" y="146304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differentiator; Developed nations ~2σ above underdeveloped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7589520" y="2103120"/>
            <a:ext cx="4297680" cy="868680"/>
          </a:xfrm>
          <a:prstGeom prst="rect">
            <a:avLst/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589520" y="2103120"/>
            <a:ext cx="64008" cy="8686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72400" y="215798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Usage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772400" y="2450592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divide is stark — 2.5σ gap between tiers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7589520" y="3090672"/>
            <a:ext cx="4297680" cy="868680"/>
          </a:xfrm>
          <a:prstGeom prst="rect">
            <a:avLst/>
          </a:prstGeom>
          <a:solidFill>
            <a:srgbClr val="111827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589520" y="3090672"/>
            <a:ext cx="64008" cy="8686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772400" y="3145536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Birth Rate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7772400" y="3438144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Inverse proxy — high in fragile states, low in developed nations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7589520" y="4078224"/>
            <a:ext cx="4297680" cy="868680"/>
          </a:xfrm>
          <a:prstGeom prst="rect">
            <a:avLst/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589520" y="4078224"/>
            <a:ext cx="64008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772400" y="413308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Exp/Capita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7772400" y="4425696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spend 3× more per capita on healthcare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274320" y="42793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Cluster Separation</a:t>
            </a:r>
            <a:endParaRPr lang="en-US" sz="1300" dirty="0"/>
          </a:p>
        </p:txBody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617720"/>
            <a:ext cx="5029200" cy="2103120"/>
          </a:xfrm>
          <a:prstGeom prst="rect">
            <a:avLst/>
          </a:prstGeom>
        </p:spPr>
      </p:pic>
      <p:sp>
        <p:nvSpPr>
          <p:cNvPr id="26" name="Shape 22"/>
          <p:cNvSpPr/>
          <p:nvPr/>
        </p:nvSpPr>
        <p:spPr>
          <a:xfrm>
            <a:off x="5486400" y="4297680"/>
            <a:ext cx="6400800" cy="2377440"/>
          </a:xfrm>
          <a:prstGeom prst="rect">
            <a:avLst/>
          </a:prstGeom>
          <a:solidFill>
            <a:srgbClr val="111827"/>
          </a:solidFill>
          <a:ln w="10160">
            <a:solidFill>
              <a:srgbClr val="374151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5669280" y="4370832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Insights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5669280" y="4754880"/>
            <a:ext cx="164592" cy="164592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943600" y="4727448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reduces 15 features to 2 principal components for 2D visualization while preserving ≥90% variance.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5669280" y="5212080"/>
            <a:ext cx="164592" cy="164592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5943600" y="5184648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PC1 represents the primary development axis — separating high-GDP, high-internet economies from fragile states.</a:t>
            </a:r>
            <a:endParaRPr lang="en-US" sz="1000" dirty="0"/>
          </a:p>
        </p:txBody>
      </p:sp>
      <p:sp>
        <p:nvSpPr>
          <p:cNvPr id="32" name="Shape 28"/>
          <p:cNvSpPr/>
          <p:nvPr/>
        </p:nvSpPr>
        <p:spPr>
          <a:xfrm>
            <a:off x="5669280" y="5669280"/>
            <a:ext cx="164592" cy="164592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5943600" y="5641848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PC2 captures orthogonal variance such as population structure differences and regional energy patterns.</a:t>
            </a:r>
            <a:endParaRPr lang="en-US" sz="1000" dirty="0"/>
          </a:p>
        </p:txBody>
      </p:sp>
      <p:sp>
        <p:nvSpPr>
          <p:cNvPr id="34" name="Shape 30"/>
          <p:cNvSpPr/>
          <p:nvPr/>
        </p:nvSpPr>
        <p:spPr>
          <a:xfrm>
            <a:off x="5669280" y="6126480"/>
            <a:ext cx="164592" cy="164592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5943600" y="6099048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cluster shows tight grouping (high homogeneity); Underdeveloped has wider spread, reflecting diverse fragility factors.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12161520" cy="3657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68680" y="914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 COMPARISON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914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5-Algorithm Ensemble Clustering Analysis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685800"/>
            <a:ext cx="5669280" cy="36576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217920" y="685800"/>
            <a:ext cx="2743200" cy="2103120"/>
          </a:xfrm>
          <a:prstGeom prst="rect">
            <a:avLst/>
          </a:prstGeom>
          <a:solidFill>
            <a:srgbClr val="111827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217920" y="685800"/>
            <a:ext cx="2743200" cy="640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48" y="850392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784848" y="82296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6327648" y="1280160"/>
            <a:ext cx="2523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k=4, k-means++, n_init=10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6327648" y="1600200"/>
            <a:ext cx="2286000" cy="201168"/>
          </a:xfrm>
          <a:prstGeom prst="rect">
            <a:avLst/>
          </a:prstGeom>
          <a:solidFill>
            <a:srgbClr val="1F2937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327648" y="1600200"/>
            <a:ext cx="323273" cy="201168"/>
          </a:xfrm>
          <a:prstGeom prst="rect">
            <a:avLst/>
          </a:prstGeom>
          <a:solidFill>
            <a:srgbClr val="00D4FF">
              <a:alpha val="8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355080" y="160020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Dev: 28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6327648" y="1920240"/>
            <a:ext cx="2286000" cy="201168"/>
          </a:xfrm>
          <a:prstGeom prst="rect">
            <a:avLst/>
          </a:prstGeom>
          <a:solidFill>
            <a:srgbClr val="1F2937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327648" y="1920240"/>
            <a:ext cx="1189182" cy="201168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355080" y="192024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Dvpg: 103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6327648" y="2240280"/>
            <a:ext cx="2286000" cy="201168"/>
          </a:xfrm>
          <a:prstGeom prst="rect">
            <a:avLst/>
          </a:prstGeom>
          <a:solidFill>
            <a:srgbClr val="1F2937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327648" y="2240280"/>
            <a:ext cx="773545" cy="201168"/>
          </a:xfrm>
          <a:prstGeom prst="rect">
            <a:avLst/>
          </a:prstGeom>
          <a:solidFill>
            <a:srgbClr val="EF4444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355080" y="224028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Undev: 67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6309360" y="25146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model. Best balance ratio, strong silhouette score.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6217920" y="3017520"/>
            <a:ext cx="2743200" cy="2103120"/>
          </a:xfrm>
          <a:prstGeom prst="rect">
            <a:avLst/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6217920" y="3017520"/>
            <a:ext cx="274320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3182112"/>
            <a:ext cx="384048" cy="384048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784848" y="315468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GMM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6327648" y="3611880"/>
            <a:ext cx="2523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components, full cov, n_init=10</a:t>
            </a:r>
            <a:endParaRPr lang="en-US" sz="850" dirty="0"/>
          </a:p>
        </p:txBody>
      </p:sp>
      <p:sp>
        <p:nvSpPr>
          <p:cNvPr id="28" name="Shape 23"/>
          <p:cNvSpPr/>
          <p:nvPr/>
        </p:nvSpPr>
        <p:spPr>
          <a:xfrm>
            <a:off x="6327648" y="3931920"/>
            <a:ext cx="2286000" cy="201168"/>
          </a:xfrm>
          <a:prstGeom prst="rect">
            <a:avLst/>
          </a:prstGeom>
          <a:solidFill>
            <a:srgbClr val="1F2937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6327648" y="3931920"/>
            <a:ext cx="461818" cy="201168"/>
          </a:xfrm>
          <a:prstGeom prst="rect">
            <a:avLst/>
          </a:prstGeom>
          <a:solidFill>
            <a:srgbClr val="00D4FF">
              <a:alpha val="8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6355080" y="393192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Dev: 40</a:t>
            </a:r>
            <a:endParaRPr lang="en-US" sz="900" dirty="0"/>
          </a:p>
        </p:txBody>
      </p:sp>
      <p:sp>
        <p:nvSpPr>
          <p:cNvPr id="31" name="Shape 26"/>
          <p:cNvSpPr/>
          <p:nvPr/>
        </p:nvSpPr>
        <p:spPr>
          <a:xfrm>
            <a:off x="6327648" y="4251960"/>
            <a:ext cx="2286000" cy="201168"/>
          </a:xfrm>
          <a:prstGeom prst="rect">
            <a:avLst/>
          </a:prstGeom>
          <a:solidFill>
            <a:srgbClr val="1F2937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6327648" y="4251960"/>
            <a:ext cx="1108364" cy="201168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6355080" y="425196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Dvpg: 96</a:t>
            </a:r>
            <a:endParaRPr lang="en-US" sz="900" dirty="0"/>
          </a:p>
        </p:txBody>
      </p:sp>
      <p:sp>
        <p:nvSpPr>
          <p:cNvPr id="34" name="Shape 29"/>
          <p:cNvSpPr/>
          <p:nvPr/>
        </p:nvSpPr>
        <p:spPr>
          <a:xfrm>
            <a:off x="6327648" y="4572000"/>
            <a:ext cx="2286000" cy="201168"/>
          </a:xfrm>
          <a:prstGeom prst="rect">
            <a:avLst/>
          </a:prstGeom>
          <a:solidFill>
            <a:srgbClr val="1F2937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6327648" y="4572000"/>
            <a:ext cx="715818" cy="201168"/>
          </a:xfrm>
          <a:prstGeom prst="rect">
            <a:avLst/>
          </a:prstGeom>
          <a:solidFill>
            <a:srgbClr val="EF4444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6355080" y="457200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Undev: 62</a:t>
            </a:r>
            <a:endParaRPr lang="en-US" sz="900" dirty="0"/>
          </a:p>
        </p:txBody>
      </p:sp>
      <p:sp>
        <p:nvSpPr>
          <p:cNvPr id="37" name="Text 32"/>
          <p:cNvSpPr/>
          <p:nvPr/>
        </p:nvSpPr>
        <p:spPr>
          <a:xfrm>
            <a:off x="6309360" y="48463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Probabilistic model. Identifies more borderline developed countries.</a:t>
            </a:r>
            <a:endParaRPr lang="en-US" sz="900" dirty="0"/>
          </a:p>
        </p:txBody>
      </p:sp>
      <p:sp>
        <p:nvSpPr>
          <p:cNvPr id="38" name="Shape 33"/>
          <p:cNvSpPr/>
          <p:nvPr/>
        </p:nvSpPr>
        <p:spPr>
          <a:xfrm>
            <a:off x="9235440" y="685800"/>
            <a:ext cx="2743200" cy="2103120"/>
          </a:xfrm>
          <a:prstGeom prst="rect">
            <a:avLst/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9235440" y="685800"/>
            <a:ext cx="27432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4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5168" y="850392"/>
            <a:ext cx="384048" cy="384048"/>
          </a:xfrm>
          <a:prstGeom prst="rect">
            <a:avLst/>
          </a:prstGeom>
        </p:spPr>
      </p:pic>
      <p:sp>
        <p:nvSpPr>
          <p:cNvPr id="41" name="Text 35"/>
          <p:cNvSpPr/>
          <p:nvPr/>
        </p:nvSpPr>
        <p:spPr>
          <a:xfrm>
            <a:off x="9802368" y="82296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</a:t>
            </a:r>
            <a:endParaRPr lang="en-US" sz="1300" dirty="0"/>
          </a:p>
        </p:txBody>
      </p:sp>
      <p:sp>
        <p:nvSpPr>
          <p:cNvPr id="42" name="Text 36"/>
          <p:cNvSpPr/>
          <p:nvPr/>
        </p:nvSpPr>
        <p:spPr>
          <a:xfrm>
            <a:off x="9345168" y="1280160"/>
            <a:ext cx="2523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rbf affinity, n_init=10, kmeans assign</a:t>
            </a:r>
            <a:endParaRPr lang="en-US" sz="850" dirty="0"/>
          </a:p>
        </p:txBody>
      </p:sp>
      <p:sp>
        <p:nvSpPr>
          <p:cNvPr id="43" name="Shape 37"/>
          <p:cNvSpPr/>
          <p:nvPr/>
        </p:nvSpPr>
        <p:spPr>
          <a:xfrm>
            <a:off x="9345168" y="1600200"/>
            <a:ext cx="2286000" cy="201168"/>
          </a:xfrm>
          <a:prstGeom prst="rect">
            <a:avLst/>
          </a:prstGeom>
          <a:solidFill>
            <a:srgbClr val="1F2937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44" name="Shape 38"/>
          <p:cNvSpPr/>
          <p:nvPr/>
        </p:nvSpPr>
        <p:spPr>
          <a:xfrm>
            <a:off x="9345168" y="1600200"/>
            <a:ext cx="265545" cy="201168"/>
          </a:xfrm>
          <a:prstGeom prst="rect">
            <a:avLst/>
          </a:prstGeom>
          <a:solidFill>
            <a:srgbClr val="00D4FF">
              <a:alpha val="8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5" name="Text 39"/>
          <p:cNvSpPr/>
          <p:nvPr/>
        </p:nvSpPr>
        <p:spPr>
          <a:xfrm>
            <a:off x="9372600" y="160020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Dev: 23</a:t>
            </a:r>
            <a:endParaRPr lang="en-US" sz="900" dirty="0"/>
          </a:p>
        </p:txBody>
      </p:sp>
      <p:sp>
        <p:nvSpPr>
          <p:cNvPr id="46" name="Shape 40"/>
          <p:cNvSpPr/>
          <p:nvPr/>
        </p:nvSpPr>
        <p:spPr>
          <a:xfrm>
            <a:off x="9345168" y="1920240"/>
            <a:ext cx="2286000" cy="201168"/>
          </a:xfrm>
          <a:prstGeom prst="rect">
            <a:avLst/>
          </a:prstGeom>
          <a:solidFill>
            <a:srgbClr val="1F2937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47" name="Shape 41"/>
          <p:cNvSpPr/>
          <p:nvPr/>
        </p:nvSpPr>
        <p:spPr>
          <a:xfrm>
            <a:off x="9345168" y="1920240"/>
            <a:ext cx="1281545" cy="201168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8" name="Text 42"/>
          <p:cNvSpPr/>
          <p:nvPr/>
        </p:nvSpPr>
        <p:spPr>
          <a:xfrm>
            <a:off x="9372600" y="192024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Dvpg: 111</a:t>
            </a:r>
            <a:endParaRPr lang="en-US" sz="900" dirty="0"/>
          </a:p>
        </p:txBody>
      </p:sp>
      <p:sp>
        <p:nvSpPr>
          <p:cNvPr id="49" name="Shape 43"/>
          <p:cNvSpPr/>
          <p:nvPr/>
        </p:nvSpPr>
        <p:spPr>
          <a:xfrm>
            <a:off x="9345168" y="2240280"/>
            <a:ext cx="2286000" cy="201168"/>
          </a:xfrm>
          <a:prstGeom prst="rect">
            <a:avLst/>
          </a:prstGeom>
          <a:solidFill>
            <a:srgbClr val="1F2937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50" name="Shape 44"/>
          <p:cNvSpPr/>
          <p:nvPr/>
        </p:nvSpPr>
        <p:spPr>
          <a:xfrm>
            <a:off x="9345168" y="2240280"/>
            <a:ext cx="738909" cy="201168"/>
          </a:xfrm>
          <a:prstGeom prst="rect">
            <a:avLst/>
          </a:prstGeom>
          <a:solidFill>
            <a:srgbClr val="EF4444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1" name="Text 45"/>
          <p:cNvSpPr/>
          <p:nvPr/>
        </p:nvSpPr>
        <p:spPr>
          <a:xfrm>
            <a:off x="9372600" y="224028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Undev: 64</a:t>
            </a:r>
            <a:endParaRPr lang="en-US" sz="900" dirty="0"/>
          </a:p>
        </p:txBody>
      </p:sp>
      <p:sp>
        <p:nvSpPr>
          <p:cNvPr id="52" name="Text 46"/>
          <p:cNvSpPr/>
          <p:nvPr/>
        </p:nvSpPr>
        <p:spPr>
          <a:xfrm>
            <a:off x="9326880" y="25146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Graph-based. Stricter developed boundary, slight underdeveloped shift.</a:t>
            </a:r>
            <a:endParaRPr lang="en-US" sz="900" dirty="0"/>
          </a:p>
        </p:txBody>
      </p:sp>
      <p:sp>
        <p:nvSpPr>
          <p:cNvPr id="53" name="Shape 47"/>
          <p:cNvSpPr/>
          <p:nvPr/>
        </p:nvSpPr>
        <p:spPr>
          <a:xfrm>
            <a:off x="9235440" y="3017520"/>
            <a:ext cx="2743200" cy="2103120"/>
          </a:xfrm>
          <a:prstGeom prst="rect">
            <a:avLst/>
          </a:prstGeom>
          <a:solidFill>
            <a:srgbClr val="111827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4" name="Shape 48"/>
          <p:cNvSpPr/>
          <p:nvPr/>
        </p:nvSpPr>
        <p:spPr>
          <a:xfrm>
            <a:off x="9235440" y="3017520"/>
            <a:ext cx="274320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5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45168" y="3182112"/>
            <a:ext cx="384048" cy="384048"/>
          </a:xfrm>
          <a:prstGeom prst="rect">
            <a:avLst/>
          </a:prstGeom>
        </p:spPr>
      </p:pic>
      <p:sp>
        <p:nvSpPr>
          <p:cNvPr id="56" name="Text 49"/>
          <p:cNvSpPr/>
          <p:nvPr/>
        </p:nvSpPr>
        <p:spPr>
          <a:xfrm>
            <a:off x="9802368" y="315468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BIRCH</a:t>
            </a:r>
            <a:endParaRPr lang="en-US" sz="1300" dirty="0"/>
          </a:p>
        </p:txBody>
      </p:sp>
      <p:sp>
        <p:nvSpPr>
          <p:cNvPr id="57" name="Text 50"/>
          <p:cNvSpPr/>
          <p:nvPr/>
        </p:nvSpPr>
        <p:spPr>
          <a:xfrm>
            <a:off x="9345168" y="3611880"/>
            <a:ext cx="2523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threshold=0.5, branching=50</a:t>
            </a:r>
            <a:endParaRPr lang="en-US" sz="850" dirty="0"/>
          </a:p>
        </p:txBody>
      </p:sp>
      <p:sp>
        <p:nvSpPr>
          <p:cNvPr id="58" name="Shape 51"/>
          <p:cNvSpPr/>
          <p:nvPr/>
        </p:nvSpPr>
        <p:spPr>
          <a:xfrm>
            <a:off x="9345168" y="3931920"/>
            <a:ext cx="2286000" cy="201168"/>
          </a:xfrm>
          <a:prstGeom prst="rect">
            <a:avLst/>
          </a:prstGeom>
          <a:solidFill>
            <a:srgbClr val="1F2937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59" name="Shape 52"/>
          <p:cNvSpPr/>
          <p:nvPr/>
        </p:nvSpPr>
        <p:spPr>
          <a:xfrm>
            <a:off x="9345168" y="3931920"/>
            <a:ext cx="254000" cy="201168"/>
          </a:xfrm>
          <a:prstGeom prst="rect">
            <a:avLst/>
          </a:prstGeom>
          <a:solidFill>
            <a:srgbClr val="00D4FF">
              <a:alpha val="8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0" name="Text 53"/>
          <p:cNvSpPr/>
          <p:nvPr/>
        </p:nvSpPr>
        <p:spPr>
          <a:xfrm>
            <a:off x="9372600" y="393192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Dev: 22</a:t>
            </a:r>
            <a:endParaRPr lang="en-US" sz="900" dirty="0"/>
          </a:p>
        </p:txBody>
      </p:sp>
      <p:sp>
        <p:nvSpPr>
          <p:cNvPr id="61" name="Shape 54"/>
          <p:cNvSpPr/>
          <p:nvPr/>
        </p:nvSpPr>
        <p:spPr>
          <a:xfrm>
            <a:off x="9345168" y="4251960"/>
            <a:ext cx="2286000" cy="201168"/>
          </a:xfrm>
          <a:prstGeom prst="rect">
            <a:avLst/>
          </a:prstGeom>
          <a:solidFill>
            <a:srgbClr val="1F2937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62" name="Shape 55"/>
          <p:cNvSpPr/>
          <p:nvPr/>
        </p:nvSpPr>
        <p:spPr>
          <a:xfrm>
            <a:off x="9345168" y="4251960"/>
            <a:ext cx="1397000" cy="201168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3" name="Text 56"/>
          <p:cNvSpPr/>
          <p:nvPr/>
        </p:nvSpPr>
        <p:spPr>
          <a:xfrm>
            <a:off x="9372600" y="425196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Dvpg: 121</a:t>
            </a:r>
            <a:endParaRPr lang="en-US" sz="900" dirty="0"/>
          </a:p>
        </p:txBody>
      </p:sp>
      <p:sp>
        <p:nvSpPr>
          <p:cNvPr id="64" name="Shape 57"/>
          <p:cNvSpPr/>
          <p:nvPr/>
        </p:nvSpPr>
        <p:spPr>
          <a:xfrm>
            <a:off x="9345168" y="4572000"/>
            <a:ext cx="2286000" cy="201168"/>
          </a:xfrm>
          <a:prstGeom prst="rect">
            <a:avLst/>
          </a:prstGeom>
          <a:solidFill>
            <a:srgbClr val="1F2937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65" name="Shape 58"/>
          <p:cNvSpPr/>
          <p:nvPr/>
        </p:nvSpPr>
        <p:spPr>
          <a:xfrm>
            <a:off x="9345168" y="4572000"/>
            <a:ext cx="635000" cy="201168"/>
          </a:xfrm>
          <a:prstGeom prst="rect">
            <a:avLst/>
          </a:prstGeom>
          <a:solidFill>
            <a:srgbClr val="EF4444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6" name="Text 59"/>
          <p:cNvSpPr/>
          <p:nvPr/>
        </p:nvSpPr>
        <p:spPr>
          <a:xfrm>
            <a:off x="9372600" y="457200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Undev: 55</a:t>
            </a:r>
            <a:endParaRPr lang="en-US" sz="900" dirty="0"/>
          </a:p>
        </p:txBody>
      </p:sp>
      <p:sp>
        <p:nvSpPr>
          <p:cNvPr id="67" name="Text 60"/>
          <p:cNvSpPr/>
          <p:nvPr/>
        </p:nvSpPr>
        <p:spPr>
          <a:xfrm>
            <a:off x="9326880" y="48463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tree method. Compresses developing; fewer underdeveloped.</a:t>
            </a:r>
            <a:endParaRPr lang="en-US" sz="900" dirty="0"/>
          </a:p>
        </p:txBody>
      </p:sp>
      <p:sp>
        <p:nvSpPr>
          <p:cNvPr id="68" name="Shape 61"/>
          <p:cNvSpPr/>
          <p:nvPr/>
        </p:nvSpPr>
        <p:spPr>
          <a:xfrm>
            <a:off x="6217920" y="5212080"/>
            <a:ext cx="5760720" cy="685800"/>
          </a:xfrm>
          <a:prstGeom prst="rect">
            <a:avLst/>
          </a:prstGeom>
          <a:solidFill>
            <a:srgbClr val="1F2937"/>
          </a:solidFill>
          <a:ln w="10160">
            <a:solidFill>
              <a:srgbClr val="374151"/>
            </a:solidFill>
            <a:prstDash val="solid"/>
          </a:ln>
        </p:spPr>
      </p:sp>
      <p:sp>
        <p:nvSpPr>
          <p:cNvPr id="69" name="Text 62"/>
          <p:cNvSpPr/>
          <p:nvPr/>
        </p:nvSpPr>
        <p:spPr>
          <a:xfrm>
            <a:off x="6400800" y="52852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Hierarchical (Ward, k=4):</a:t>
            </a:r>
            <a:endParaRPr lang="en-US" sz="1000" dirty="0"/>
          </a:p>
        </p:txBody>
      </p:sp>
      <p:sp>
        <p:nvSpPr>
          <p:cNvPr id="70" name="Text 63"/>
          <p:cNvSpPr/>
          <p:nvPr/>
        </p:nvSpPr>
        <p:spPr>
          <a:xfrm>
            <a:off x="6400800" y="553212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133/198 countries as Developed — indicating over-merge at k=4; excluded from ensemble vote for Developed cluster.</a:t>
            </a:r>
            <a:endParaRPr lang="en-US" sz="950" dirty="0"/>
          </a:p>
        </p:txBody>
      </p:sp>
      <p:pic>
        <p:nvPicPr>
          <p:cNvPr id="7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4320" y="4434840"/>
            <a:ext cx="566928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1216152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68680" y="91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STREAMLIT APP ARCHITECTURE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914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7-Layer Multi-Page Dashboard System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685800"/>
            <a:ext cx="5669280" cy="1325880"/>
          </a:xfrm>
          <a:prstGeom prst="rect">
            <a:avLst/>
          </a:prstGeom>
          <a:solidFill>
            <a:srgbClr val="111827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685800"/>
            <a:ext cx="566928" cy="1325880"/>
          </a:xfrm>
          <a:prstGeom prst="rect">
            <a:avLst/>
          </a:prstGeom>
          <a:solidFill>
            <a:srgbClr val="00D4FF">
              <a:alpha val="25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143000"/>
            <a:ext cx="566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L0</a:t>
            </a:r>
            <a:endParaRPr lang="en-US" sz="13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1097280"/>
            <a:ext cx="457200" cy="4572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508760" y="795528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Dashboard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508760" y="116128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layer_0_hero.py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1508760" y="1435608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KPIs, cluster summary, global snapshot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02920" y="2011680"/>
            <a:ext cx="109728" cy="137160"/>
          </a:xfrm>
          <a:prstGeom prst="rect">
            <a:avLst/>
          </a:prstGeom>
          <a:solidFill>
            <a:srgbClr val="00D4FF">
              <a:alpha val="5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74320" y="2148840"/>
            <a:ext cx="5669280" cy="1325880"/>
          </a:xfrm>
          <a:prstGeom prst="rect">
            <a:avLst/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74320" y="2148840"/>
            <a:ext cx="566928" cy="1325880"/>
          </a:xfrm>
          <a:prstGeom prst="rect">
            <a:avLst/>
          </a:prstGeom>
          <a:solidFill>
            <a:srgbClr val="10B981">
              <a:alpha val="2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74320" y="2606040"/>
            <a:ext cx="566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L1</a:t>
            </a:r>
            <a:endParaRPr lang="en-US" sz="13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2560320"/>
            <a:ext cx="457200" cy="45720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508760" y="2258568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Center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1508760" y="262432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layer_1_command.py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1508760" y="2898648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panel, model selector, data upload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502920" y="3474720"/>
            <a:ext cx="109728" cy="137160"/>
          </a:xfrm>
          <a:prstGeom prst="rect">
            <a:avLst/>
          </a:prstGeom>
          <a:solidFill>
            <a:srgbClr val="10B981">
              <a:alpha val="5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274320" y="3611880"/>
            <a:ext cx="5669280" cy="1325880"/>
          </a:xfrm>
          <a:prstGeom prst="rect">
            <a:avLst/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274320" y="3611880"/>
            <a:ext cx="566928" cy="1325880"/>
          </a:xfrm>
          <a:prstGeom prst="rect">
            <a:avLst/>
          </a:prstGeom>
          <a:solidFill>
            <a:srgbClr val="F59E0B">
              <a:alpha val="2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274320" y="4069080"/>
            <a:ext cx="566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L2</a:t>
            </a:r>
            <a:endParaRPr lang="en-US" sz="130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023360"/>
            <a:ext cx="457200" cy="45720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508760" y="3721608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400" dirty="0"/>
          </a:p>
        </p:txBody>
      </p:sp>
      <p:sp>
        <p:nvSpPr>
          <p:cNvPr id="28" name="Text 23"/>
          <p:cNvSpPr/>
          <p:nvPr/>
        </p:nvSpPr>
        <p:spPr>
          <a:xfrm>
            <a:off x="1508760" y="408736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layer_2_intelligence.py</a:t>
            </a:r>
            <a:endParaRPr lang="en-US" sz="950" dirty="0"/>
          </a:p>
        </p:txBody>
      </p:sp>
      <p:sp>
        <p:nvSpPr>
          <p:cNvPr id="29" name="Text 24"/>
          <p:cNvSpPr/>
          <p:nvPr/>
        </p:nvSpPr>
        <p:spPr>
          <a:xfrm>
            <a:off x="1508760" y="4361688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analytics, correlation matrix, insights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502920" y="4937760"/>
            <a:ext cx="109728" cy="137160"/>
          </a:xfrm>
          <a:prstGeom prst="rect">
            <a:avLst/>
          </a:prstGeom>
          <a:solidFill>
            <a:srgbClr val="F59E0B">
              <a:alpha val="5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274320" y="5074920"/>
            <a:ext cx="5669280" cy="1325880"/>
          </a:xfrm>
          <a:prstGeom prst="rect">
            <a:avLst/>
          </a:prstGeom>
          <a:solidFill>
            <a:srgbClr val="111827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274320" y="5074920"/>
            <a:ext cx="566928" cy="1325880"/>
          </a:xfrm>
          <a:prstGeom prst="rect">
            <a:avLst/>
          </a:prstGeom>
          <a:solidFill>
            <a:srgbClr val="00D4FF">
              <a:alpha val="25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274320" y="5532120"/>
            <a:ext cx="566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L3</a:t>
            </a:r>
            <a:endParaRPr lang="en-US" sz="1300" dirty="0"/>
          </a:p>
        </p:txBody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5486400"/>
            <a:ext cx="457200" cy="457200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1508760" y="5184648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Map</a:t>
            </a:r>
            <a:endParaRPr lang="en-US" sz="1400" dirty="0"/>
          </a:p>
        </p:txBody>
      </p:sp>
      <p:sp>
        <p:nvSpPr>
          <p:cNvPr id="36" name="Text 30"/>
          <p:cNvSpPr/>
          <p:nvPr/>
        </p:nvSpPr>
        <p:spPr>
          <a:xfrm>
            <a:off x="1508760" y="555040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layer_3_world_map.py</a:t>
            </a:r>
            <a:endParaRPr lang="en-US" sz="950" dirty="0"/>
          </a:p>
        </p:txBody>
      </p:sp>
      <p:sp>
        <p:nvSpPr>
          <p:cNvPr id="37" name="Text 31"/>
          <p:cNvSpPr/>
          <p:nvPr/>
        </p:nvSpPr>
        <p:spPr>
          <a:xfrm>
            <a:off x="1508760" y="5824728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Choropleth globe, cluster geographic view</a:t>
            </a:r>
            <a:endParaRPr lang="en-US" sz="1050" dirty="0"/>
          </a:p>
        </p:txBody>
      </p:sp>
      <p:sp>
        <p:nvSpPr>
          <p:cNvPr id="38" name="Shape 32"/>
          <p:cNvSpPr/>
          <p:nvPr/>
        </p:nvSpPr>
        <p:spPr>
          <a:xfrm>
            <a:off x="6263640" y="685800"/>
            <a:ext cx="5669280" cy="1325880"/>
          </a:xfrm>
          <a:prstGeom prst="rect">
            <a:avLst/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6263640" y="685800"/>
            <a:ext cx="566928" cy="1325880"/>
          </a:xfrm>
          <a:prstGeom prst="rect">
            <a:avLst/>
          </a:prstGeom>
          <a:solidFill>
            <a:srgbClr val="10B981">
              <a:alpha val="2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6263640" y="1143000"/>
            <a:ext cx="566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L4</a:t>
            </a:r>
            <a:endParaRPr lang="en-US" sz="1300" dirty="0"/>
          </a:p>
        </p:txBody>
      </p:sp>
      <p:pic>
        <p:nvPicPr>
          <p:cNvPr id="4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76872" y="1097280"/>
            <a:ext cx="457200" cy="457200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7498080" y="795528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Atlas</a:t>
            </a:r>
            <a:endParaRPr lang="en-US" sz="1400" dirty="0"/>
          </a:p>
        </p:txBody>
      </p:sp>
      <p:sp>
        <p:nvSpPr>
          <p:cNvPr id="43" name="Text 36"/>
          <p:cNvSpPr/>
          <p:nvPr/>
        </p:nvSpPr>
        <p:spPr>
          <a:xfrm>
            <a:off x="7498080" y="116128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layer_4_cluster_atlas.py</a:t>
            </a:r>
            <a:endParaRPr lang="en-US" sz="950" dirty="0"/>
          </a:p>
        </p:txBody>
      </p:sp>
      <p:sp>
        <p:nvSpPr>
          <p:cNvPr id="44" name="Text 37"/>
          <p:cNvSpPr/>
          <p:nvPr/>
        </p:nvSpPr>
        <p:spPr>
          <a:xfrm>
            <a:off x="7498080" y="1435608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cluster drill-down, PCA 2D/3D scatter</a:t>
            </a:r>
            <a:endParaRPr lang="en-US" sz="1050" dirty="0"/>
          </a:p>
        </p:txBody>
      </p:sp>
      <p:sp>
        <p:nvSpPr>
          <p:cNvPr id="45" name="Shape 38"/>
          <p:cNvSpPr/>
          <p:nvPr/>
        </p:nvSpPr>
        <p:spPr>
          <a:xfrm>
            <a:off x="6492240" y="2011680"/>
            <a:ext cx="109728" cy="137160"/>
          </a:xfrm>
          <a:prstGeom prst="rect">
            <a:avLst/>
          </a:prstGeom>
          <a:solidFill>
            <a:srgbClr val="10B981">
              <a:alpha val="5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6" name="Shape 39"/>
          <p:cNvSpPr/>
          <p:nvPr/>
        </p:nvSpPr>
        <p:spPr>
          <a:xfrm>
            <a:off x="6263640" y="2148840"/>
            <a:ext cx="5669280" cy="1325880"/>
          </a:xfrm>
          <a:prstGeom prst="rect">
            <a:avLst/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7" name="Shape 40"/>
          <p:cNvSpPr/>
          <p:nvPr/>
        </p:nvSpPr>
        <p:spPr>
          <a:xfrm>
            <a:off x="6263640" y="2148840"/>
            <a:ext cx="566928" cy="1325880"/>
          </a:xfrm>
          <a:prstGeom prst="rect">
            <a:avLst/>
          </a:prstGeom>
          <a:solidFill>
            <a:srgbClr val="F59E0B">
              <a:alpha val="2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8" name="Text 41"/>
          <p:cNvSpPr/>
          <p:nvPr/>
        </p:nvSpPr>
        <p:spPr>
          <a:xfrm>
            <a:off x="6263640" y="2606040"/>
            <a:ext cx="566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L5</a:t>
            </a:r>
            <a:endParaRPr lang="en-US" sz="1300" dirty="0"/>
          </a:p>
        </p:txBody>
      </p:sp>
      <p:pic>
        <p:nvPicPr>
          <p:cNvPr id="4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76872" y="2560320"/>
            <a:ext cx="457200" cy="457200"/>
          </a:xfrm>
          <a:prstGeom prst="rect">
            <a:avLst/>
          </a:prstGeom>
        </p:spPr>
      </p:pic>
      <p:sp>
        <p:nvSpPr>
          <p:cNvPr id="50" name="Text 42"/>
          <p:cNvSpPr/>
          <p:nvPr/>
        </p:nvSpPr>
        <p:spPr>
          <a:xfrm>
            <a:off x="7498080" y="2258568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Lens</a:t>
            </a:r>
            <a:endParaRPr lang="en-US" sz="1400" dirty="0"/>
          </a:p>
        </p:txBody>
      </p:sp>
      <p:sp>
        <p:nvSpPr>
          <p:cNvPr id="51" name="Text 43"/>
          <p:cNvSpPr/>
          <p:nvPr/>
        </p:nvSpPr>
        <p:spPr>
          <a:xfrm>
            <a:off x="7498080" y="262432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layer_5_country_lens.py</a:t>
            </a:r>
            <a:endParaRPr lang="en-US" sz="950" dirty="0"/>
          </a:p>
        </p:txBody>
      </p:sp>
      <p:sp>
        <p:nvSpPr>
          <p:cNvPr id="52" name="Text 44"/>
          <p:cNvSpPr/>
          <p:nvPr/>
        </p:nvSpPr>
        <p:spPr>
          <a:xfrm>
            <a:off x="7498080" y="2898648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Per-country profile, feature radar, ranking</a:t>
            </a:r>
            <a:endParaRPr lang="en-US" sz="1050" dirty="0"/>
          </a:p>
        </p:txBody>
      </p:sp>
      <p:sp>
        <p:nvSpPr>
          <p:cNvPr id="53" name="Shape 45"/>
          <p:cNvSpPr/>
          <p:nvPr/>
        </p:nvSpPr>
        <p:spPr>
          <a:xfrm>
            <a:off x="6492240" y="3474720"/>
            <a:ext cx="109728" cy="137160"/>
          </a:xfrm>
          <a:prstGeom prst="rect">
            <a:avLst/>
          </a:prstGeom>
          <a:solidFill>
            <a:srgbClr val="F59E0B">
              <a:alpha val="5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4" name="Shape 46"/>
          <p:cNvSpPr/>
          <p:nvPr/>
        </p:nvSpPr>
        <p:spPr>
          <a:xfrm>
            <a:off x="6263640" y="3611880"/>
            <a:ext cx="5669280" cy="1325880"/>
          </a:xfrm>
          <a:prstGeom prst="rect">
            <a:avLst/>
          </a:prstGeom>
          <a:solidFill>
            <a:srgbClr val="111827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5" name="Shape 47"/>
          <p:cNvSpPr/>
          <p:nvPr/>
        </p:nvSpPr>
        <p:spPr>
          <a:xfrm>
            <a:off x="6263640" y="3611880"/>
            <a:ext cx="566928" cy="1325880"/>
          </a:xfrm>
          <a:prstGeom prst="rect">
            <a:avLst/>
          </a:prstGeom>
          <a:solidFill>
            <a:srgbClr val="EF4444">
              <a:alpha val="2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6" name="Text 48"/>
          <p:cNvSpPr/>
          <p:nvPr/>
        </p:nvSpPr>
        <p:spPr>
          <a:xfrm>
            <a:off x="6263640" y="4069080"/>
            <a:ext cx="566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L6</a:t>
            </a:r>
            <a:endParaRPr lang="en-US" sz="1300" dirty="0"/>
          </a:p>
        </p:txBody>
      </p:sp>
      <p:pic>
        <p:nvPicPr>
          <p:cNvPr id="5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76872" y="4023360"/>
            <a:ext cx="457200" cy="457200"/>
          </a:xfrm>
          <a:prstGeom prst="rect">
            <a:avLst/>
          </a:prstGeom>
        </p:spPr>
      </p:pic>
      <p:sp>
        <p:nvSpPr>
          <p:cNvPr id="58" name="Text 49"/>
          <p:cNvSpPr/>
          <p:nvPr/>
        </p:nvSpPr>
        <p:spPr>
          <a:xfrm>
            <a:off x="7498080" y="3721608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Arena</a:t>
            </a:r>
            <a:endParaRPr lang="en-US" sz="1400" dirty="0"/>
          </a:p>
        </p:txBody>
      </p:sp>
      <p:sp>
        <p:nvSpPr>
          <p:cNvPr id="59" name="Text 50"/>
          <p:cNvSpPr/>
          <p:nvPr/>
        </p:nvSpPr>
        <p:spPr>
          <a:xfrm>
            <a:off x="7498080" y="408736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layer_6_model_arena.py</a:t>
            </a:r>
            <a:endParaRPr lang="en-US" sz="950" dirty="0"/>
          </a:p>
        </p:txBody>
      </p:sp>
      <p:sp>
        <p:nvSpPr>
          <p:cNvPr id="60" name="Text 51"/>
          <p:cNvSpPr/>
          <p:nvPr/>
        </p:nvSpPr>
        <p:spPr>
          <a:xfrm>
            <a:off x="7498080" y="4361688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model comparison, silhouette plots</a:t>
            </a:r>
            <a:endParaRPr lang="en-US" sz="1050" dirty="0"/>
          </a:p>
        </p:txBody>
      </p:sp>
      <p:sp>
        <p:nvSpPr>
          <p:cNvPr id="61" name="Shape 52"/>
          <p:cNvSpPr/>
          <p:nvPr/>
        </p:nvSpPr>
        <p:spPr>
          <a:xfrm>
            <a:off x="6492240" y="4937760"/>
            <a:ext cx="109728" cy="137160"/>
          </a:xfrm>
          <a:prstGeom prst="rect">
            <a:avLst/>
          </a:prstGeom>
          <a:solidFill>
            <a:srgbClr val="EF4444">
              <a:alpha val="5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2" name="Shape 53"/>
          <p:cNvSpPr/>
          <p:nvPr/>
        </p:nvSpPr>
        <p:spPr>
          <a:xfrm>
            <a:off x="6263640" y="5074920"/>
            <a:ext cx="5669280" cy="1325880"/>
          </a:xfrm>
          <a:prstGeom prst="rect">
            <a:avLst/>
          </a:prstGeom>
          <a:solidFill>
            <a:srgbClr val="111827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3" name="Shape 54"/>
          <p:cNvSpPr/>
          <p:nvPr/>
        </p:nvSpPr>
        <p:spPr>
          <a:xfrm>
            <a:off x="6263640" y="5074920"/>
            <a:ext cx="566928" cy="1325880"/>
          </a:xfrm>
          <a:prstGeom prst="rect">
            <a:avLst/>
          </a:prstGeom>
          <a:solidFill>
            <a:srgbClr val="00D4FF">
              <a:alpha val="25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4" name="Text 55"/>
          <p:cNvSpPr/>
          <p:nvPr/>
        </p:nvSpPr>
        <p:spPr>
          <a:xfrm>
            <a:off x="6263640" y="5532120"/>
            <a:ext cx="566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L7</a:t>
            </a:r>
            <a:endParaRPr lang="en-US" sz="1300" dirty="0"/>
          </a:p>
        </p:txBody>
      </p:sp>
      <p:pic>
        <p:nvPicPr>
          <p:cNvPr id="6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76872" y="5486400"/>
            <a:ext cx="457200" cy="457200"/>
          </a:xfrm>
          <a:prstGeom prst="rect">
            <a:avLst/>
          </a:prstGeom>
        </p:spPr>
      </p:pic>
      <p:sp>
        <p:nvSpPr>
          <p:cNvPr id="66" name="Text 56"/>
          <p:cNvSpPr/>
          <p:nvPr/>
        </p:nvSpPr>
        <p:spPr>
          <a:xfrm>
            <a:off x="7498080" y="5184648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Vault</a:t>
            </a:r>
            <a:endParaRPr lang="en-US" sz="1400" dirty="0"/>
          </a:p>
        </p:txBody>
      </p:sp>
      <p:sp>
        <p:nvSpPr>
          <p:cNvPr id="67" name="Text 57"/>
          <p:cNvSpPr/>
          <p:nvPr/>
        </p:nvSpPr>
        <p:spPr>
          <a:xfrm>
            <a:off x="7498080" y="555040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layer_7_feature_vault.py</a:t>
            </a:r>
            <a:endParaRPr lang="en-US" sz="950" dirty="0"/>
          </a:p>
        </p:txBody>
      </p:sp>
      <p:sp>
        <p:nvSpPr>
          <p:cNvPr id="68" name="Text 58"/>
          <p:cNvSpPr/>
          <p:nvPr/>
        </p:nvSpPr>
        <p:spPr>
          <a:xfrm>
            <a:off x="7498080" y="5824728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feature explorer, distribution charts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1216152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68680" y="91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INSIGHTS &amp; TRENDS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658368"/>
            <a:ext cx="6858000" cy="29260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06640" y="658368"/>
            <a:ext cx="2194560" cy="1143000"/>
          </a:xfrm>
          <a:prstGeom prst="rect">
            <a:avLst/>
          </a:prstGeom>
          <a:solidFill>
            <a:srgbClr val="F59E0B">
              <a:alpha val="12000"/>
            </a:srgbClr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406640" y="658368"/>
            <a:ext cx="219456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06640" y="749808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52%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7406640" y="134416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Countries Developing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406640" y="1920240"/>
            <a:ext cx="2194560" cy="1143000"/>
          </a:xfrm>
          <a:prstGeom prst="rect">
            <a:avLst/>
          </a:prstGeom>
          <a:solidFill>
            <a:srgbClr val="00D4FF">
              <a:alpha val="12000"/>
            </a:srgbClr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406640" y="1920240"/>
            <a:ext cx="2194560" cy="640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406640" y="20116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14%</a:t>
            </a:r>
            <a:endParaRPr lang="en-US" sz="3600" dirty="0"/>
          </a:p>
        </p:txBody>
      </p:sp>
      <p:sp>
        <p:nvSpPr>
          <p:cNvPr id="14" name="Text 11"/>
          <p:cNvSpPr/>
          <p:nvPr/>
        </p:nvSpPr>
        <p:spPr>
          <a:xfrm>
            <a:off x="7406640" y="26060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Countries Developed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9829800" y="658368"/>
            <a:ext cx="2194560" cy="1143000"/>
          </a:xfrm>
          <a:prstGeom prst="rect">
            <a:avLst/>
          </a:prstGeom>
          <a:solidFill>
            <a:srgbClr val="EF4444">
              <a:alpha val="12000"/>
            </a:srgbClr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9829800" y="658368"/>
            <a:ext cx="219456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829800" y="749808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34%</a:t>
            </a:r>
            <a:endParaRPr lang="en-US" sz="3600" dirty="0"/>
          </a:p>
        </p:txBody>
      </p:sp>
      <p:sp>
        <p:nvSpPr>
          <p:cNvPr id="18" name="Text 15"/>
          <p:cNvSpPr/>
          <p:nvPr/>
        </p:nvSpPr>
        <p:spPr>
          <a:xfrm>
            <a:off x="9829800" y="134416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Underdeveloped Nations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9829800" y="1920240"/>
            <a:ext cx="2194560" cy="1143000"/>
          </a:xfrm>
          <a:prstGeom prst="rect">
            <a:avLst/>
          </a:prstGeom>
          <a:solidFill>
            <a:srgbClr val="10B981">
              <a:alpha val="12000"/>
            </a:srgbClr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9829800" y="1920240"/>
            <a:ext cx="219456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829800" y="20116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90%</a:t>
            </a:r>
            <a:endParaRPr lang="en-US" sz="3600" dirty="0"/>
          </a:p>
        </p:txBody>
      </p:sp>
      <p:sp>
        <p:nvSpPr>
          <p:cNvPr id="22" name="Text 19"/>
          <p:cNvSpPr/>
          <p:nvPr/>
        </p:nvSpPr>
        <p:spPr>
          <a:xfrm>
            <a:off x="9829800" y="26060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Variance Retained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274320" y="3703320"/>
            <a:ext cx="2743200" cy="2926080"/>
          </a:xfrm>
          <a:prstGeom prst="rect">
            <a:avLst/>
          </a:prstGeom>
          <a:solidFill>
            <a:srgbClr val="111827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274320" y="3703320"/>
            <a:ext cx="27432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840480"/>
            <a:ext cx="411480" cy="41148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868680" y="384048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Divide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365760" y="4389120"/>
            <a:ext cx="25603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 z-score gap in Internet Usage between Developed &amp; Underdeveloped nations — widening with Developing countries accelerating internet adoption fastest.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3246120" y="3703320"/>
            <a:ext cx="2743200" cy="2926080"/>
          </a:xfrm>
          <a:prstGeom prst="rect">
            <a:avLst/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3246120" y="3703320"/>
            <a:ext cx="27432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7560" y="3840480"/>
            <a:ext cx="411480" cy="41148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3840480" y="384048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 Paradox</a:t>
            </a:r>
            <a:endParaRPr lang="en-US" sz="1200" dirty="0"/>
          </a:p>
        </p:txBody>
      </p:sp>
      <p:sp>
        <p:nvSpPr>
          <p:cNvPr id="32" name="Text 27"/>
          <p:cNvSpPr/>
          <p:nvPr/>
        </p:nvSpPr>
        <p:spPr>
          <a:xfrm>
            <a:off x="3337560" y="4389120"/>
            <a:ext cx="25603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Developing cluster shows fastest CO₂ growth trend (+1.97 z/year) as industrialization accelerates, surpassing Developed nations' historical footprint velocity.</a:t>
            </a:r>
            <a:endParaRPr lang="en-US" sz="1050" dirty="0"/>
          </a:p>
        </p:txBody>
      </p:sp>
      <p:sp>
        <p:nvSpPr>
          <p:cNvPr id="33" name="Shape 28"/>
          <p:cNvSpPr/>
          <p:nvPr/>
        </p:nvSpPr>
        <p:spPr>
          <a:xfrm>
            <a:off x="6217920" y="3703320"/>
            <a:ext cx="2743200" cy="2926080"/>
          </a:xfrm>
          <a:prstGeom prst="rect">
            <a:avLst/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6217920" y="3703320"/>
            <a:ext cx="27432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3840480"/>
            <a:ext cx="411480" cy="411480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6812280" y="384048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Investment</a:t>
            </a:r>
            <a:endParaRPr lang="en-US" sz="1200" dirty="0"/>
          </a:p>
        </p:txBody>
      </p:sp>
      <p:sp>
        <p:nvSpPr>
          <p:cNvPr id="37" name="Text 31"/>
          <p:cNvSpPr/>
          <p:nvPr/>
        </p:nvSpPr>
        <p:spPr>
          <a:xfrm>
            <a:off x="6309360" y="4389120"/>
            <a:ext cx="25603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nations spend 1.18 z-scores above mean on Health % GDP. Underdeveloped nations remain close to average despite far worse health outcomes.</a:t>
            </a:r>
            <a:endParaRPr lang="en-US" sz="1050" dirty="0"/>
          </a:p>
        </p:txBody>
      </p:sp>
      <p:sp>
        <p:nvSpPr>
          <p:cNvPr id="38" name="Shape 32"/>
          <p:cNvSpPr/>
          <p:nvPr/>
        </p:nvSpPr>
        <p:spPr>
          <a:xfrm>
            <a:off x="9189720" y="3703320"/>
            <a:ext cx="2743200" cy="2926080"/>
          </a:xfrm>
          <a:prstGeom prst="rect">
            <a:avLst/>
          </a:prstGeom>
          <a:solidFill>
            <a:srgbClr val="111827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9189720" y="3703320"/>
            <a:ext cx="274320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1160" y="3840480"/>
            <a:ext cx="411480" cy="411480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9784080" y="384048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 Shift</a:t>
            </a:r>
            <a:endParaRPr lang="en-US" sz="1200" dirty="0"/>
          </a:p>
        </p:txBody>
      </p:sp>
      <p:sp>
        <p:nvSpPr>
          <p:cNvPr id="42" name="Text 35"/>
          <p:cNvSpPr/>
          <p:nvPr/>
        </p:nvSpPr>
        <p:spPr>
          <a:xfrm>
            <a:off x="9281160" y="4389120"/>
            <a:ext cx="25603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aging signal in Developed cluster (Pop 65+: +1.66 z). Youth bulge in Underdeveloped (Birth Rate: +1.14) signals future labor force dynamics.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0D4FF">
              <a:alpha val="3000"/>
            </a:srgbClr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61120" y="0"/>
            <a:ext cx="3200400" cy="6858000"/>
          </a:xfrm>
          <a:prstGeom prst="rect">
            <a:avLst/>
          </a:prstGeom>
          <a:solidFill>
            <a:srgbClr val="00D4FF">
              <a:alpha val="8000"/>
            </a:srgbClr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41280" y="0"/>
            <a:ext cx="1920240" cy="6858000"/>
          </a:xfrm>
          <a:prstGeom prst="rect">
            <a:avLst/>
          </a:prstGeom>
          <a:solidFill>
            <a:srgbClr val="00D4FF">
              <a:alpha val="13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548640"/>
            <a:ext cx="8503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228600" y="1664208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Development Clustering — Analytical Summary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28600" y="2240280"/>
            <a:ext cx="8412480" cy="36576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2514600"/>
            <a:ext cx="365760" cy="36576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13232" y="2423160"/>
            <a:ext cx="7955280" cy="566928"/>
          </a:xfrm>
          <a:prstGeom prst="rect">
            <a:avLst/>
          </a:prstGeom>
          <a:solidFill>
            <a:srgbClr val="111827"/>
          </a:solidFill>
          <a:ln w="8890">
            <a:solidFill>
              <a:srgbClr val="37415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13232" y="2423160"/>
            <a:ext cx="54864" cy="56692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14400" y="2514600"/>
            <a:ext cx="7635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clustering algorithms evaluated with ensemble majority voting for robust labeling</a:t>
            </a:r>
            <a:endParaRPr lang="en-US" sz="12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3172968"/>
            <a:ext cx="365760" cy="36576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713232" y="3081528"/>
            <a:ext cx="7955280" cy="566928"/>
          </a:xfrm>
          <a:prstGeom prst="rect">
            <a:avLst/>
          </a:prstGeom>
          <a:solidFill>
            <a:srgbClr val="111827"/>
          </a:solidFill>
          <a:ln w="8890">
            <a:solidFill>
              <a:srgbClr val="374151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13232" y="3081528"/>
            <a:ext cx="54864" cy="5669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914400" y="3172968"/>
            <a:ext cx="7635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 countries stratified into Developed (14%), Developing (52%), Underdeveloped (34%)</a:t>
            </a:r>
            <a:endParaRPr lang="en-US" sz="12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3831336"/>
            <a:ext cx="365760" cy="36576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713232" y="3739896"/>
            <a:ext cx="7955280" cy="566928"/>
          </a:xfrm>
          <a:prstGeom prst="rect">
            <a:avLst/>
          </a:prstGeom>
          <a:solidFill>
            <a:srgbClr val="111827"/>
          </a:solidFill>
          <a:ln w="8890">
            <a:solidFill>
              <a:srgbClr val="374151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13232" y="3739896"/>
            <a:ext cx="54864" cy="5669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914400" y="3831336"/>
            <a:ext cx="7635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KMeans emerged as primary model; GMM provides probabilistic confidence scores</a:t>
            </a:r>
            <a:endParaRPr lang="en-US" sz="12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4489704"/>
            <a:ext cx="365760" cy="36576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713232" y="4398264"/>
            <a:ext cx="7955280" cy="566928"/>
          </a:xfrm>
          <a:prstGeom prst="rect">
            <a:avLst/>
          </a:prstGeom>
          <a:solidFill>
            <a:srgbClr val="111827"/>
          </a:solidFill>
          <a:ln w="8890">
            <a:solidFill>
              <a:srgbClr val="374151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713232" y="4398264"/>
            <a:ext cx="54864" cy="56692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914400" y="4489704"/>
            <a:ext cx="7635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features reduced via PCA (90% variance) — GDP and Internet Usage most discriminating</a:t>
            </a:r>
            <a:endParaRPr lang="en-US" sz="120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5148072"/>
            <a:ext cx="365760" cy="365760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713232" y="5056632"/>
            <a:ext cx="7955280" cy="566928"/>
          </a:xfrm>
          <a:prstGeom prst="rect">
            <a:avLst/>
          </a:prstGeom>
          <a:solidFill>
            <a:srgbClr val="111827"/>
          </a:solidFill>
          <a:ln w="8890">
            <a:solidFill>
              <a:srgbClr val="374151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713232" y="5056632"/>
            <a:ext cx="54864" cy="56692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914400" y="5148072"/>
            <a:ext cx="7635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analysis reveals diverging CO₂ trajectories and rapid digital convergence patterns</a:t>
            </a:r>
            <a:endParaRPr lang="en-US" sz="1200" dirty="0"/>
          </a:p>
        </p:txBody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600" y="5806440"/>
            <a:ext cx="365760" cy="365760"/>
          </a:xfrm>
          <a:prstGeom prst="rect">
            <a:avLst/>
          </a:prstGeom>
        </p:spPr>
      </p:pic>
      <p:sp>
        <p:nvSpPr>
          <p:cNvPr id="30" name="Shape 22"/>
          <p:cNvSpPr/>
          <p:nvPr/>
        </p:nvSpPr>
        <p:spPr>
          <a:xfrm>
            <a:off x="713232" y="5715000"/>
            <a:ext cx="7955280" cy="566928"/>
          </a:xfrm>
          <a:prstGeom prst="rect">
            <a:avLst/>
          </a:prstGeom>
          <a:solidFill>
            <a:srgbClr val="111827"/>
          </a:solidFill>
          <a:ln w="8890">
            <a:solidFill>
              <a:srgbClr val="374151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713232" y="5715000"/>
            <a:ext cx="54864" cy="5669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914400" y="5806440"/>
            <a:ext cx="7635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7-layer Streamlit dashboard enables drill-down analysis per country or cluster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9189720" y="64008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9189720" y="10515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  Python 3.11</a:t>
            </a:r>
            <a:endParaRPr lang="en-US" sz="1100" dirty="0"/>
          </a:p>
        </p:txBody>
      </p:sp>
      <p:sp>
        <p:nvSpPr>
          <p:cNvPr id="35" name="Text 27"/>
          <p:cNvSpPr/>
          <p:nvPr/>
        </p:nvSpPr>
        <p:spPr>
          <a:xfrm>
            <a:off x="9189720" y="157276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  Scikit-learn</a:t>
            </a:r>
            <a:endParaRPr lang="en-US" sz="1100" dirty="0"/>
          </a:p>
        </p:txBody>
      </p:sp>
      <p:sp>
        <p:nvSpPr>
          <p:cNvPr id="36" name="Text 28"/>
          <p:cNvSpPr/>
          <p:nvPr/>
        </p:nvSpPr>
        <p:spPr>
          <a:xfrm>
            <a:off x="9189720" y="2093976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  Pandas / NumPy</a:t>
            </a:r>
            <a:endParaRPr lang="en-US" sz="1100" dirty="0"/>
          </a:p>
        </p:txBody>
      </p:sp>
      <p:sp>
        <p:nvSpPr>
          <p:cNvPr id="37" name="Text 29"/>
          <p:cNvSpPr/>
          <p:nvPr/>
        </p:nvSpPr>
        <p:spPr>
          <a:xfrm>
            <a:off x="9189720" y="2615184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  Matplotlib / Plotly</a:t>
            </a:r>
            <a:endParaRPr lang="en-US" sz="1100" dirty="0"/>
          </a:p>
        </p:txBody>
      </p:sp>
      <p:sp>
        <p:nvSpPr>
          <p:cNvPr id="38" name="Text 30"/>
          <p:cNvSpPr/>
          <p:nvPr/>
        </p:nvSpPr>
        <p:spPr>
          <a:xfrm>
            <a:off x="9189720" y="313639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  Streamlit</a:t>
            </a:r>
            <a:endParaRPr lang="en-US" sz="1100" dirty="0"/>
          </a:p>
        </p:txBody>
      </p:sp>
      <p:sp>
        <p:nvSpPr>
          <p:cNvPr id="39" name="Text 31"/>
          <p:cNvSpPr/>
          <p:nvPr/>
        </p:nvSpPr>
        <p:spPr>
          <a:xfrm>
            <a:off x="9189720" y="36576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  KNN Imputer</a:t>
            </a:r>
            <a:endParaRPr lang="en-US" sz="1100" dirty="0"/>
          </a:p>
        </p:txBody>
      </p:sp>
      <p:sp>
        <p:nvSpPr>
          <p:cNvPr id="40" name="Text 32"/>
          <p:cNvSpPr/>
          <p:nvPr/>
        </p:nvSpPr>
        <p:spPr>
          <a:xfrm>
            <a:off x="9189720" y="417880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  PCA</a:t>
            </a:r>
            <a:endParaRPr lang="en-US" sz="1100" dirty="0"/>
          </a:p>
        </p:txBody>
      </p:sp>
      <p:sp>
        <p:nvSpPr>
          <p:cNvPr id="41" name="Text 33"/>
          <p:cNvSpPr/>
          <p:nvPr/>
        </p:nvSpPr>
        <p:spPr>
          <a:xfrm>
            <a:off x="9189720" y="4700016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  PptxGenJS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World Development Clustering — Industrial Analytics</dc:title>
  <dc:subject>PptxGenJS Presentation</dc:subject>
  <dc:creator>World Development Clustering</dc:creator>
  <cp:lastModifiedBy>World Development Clustering</cp:lastModifiedBy>
  <cp:revision>1</cp:revision>
  <dcterms:created xsi:type="dcterms:W3CDTF">2026-05-05T12:35:59Z</dcterms:created>
  <dcterms:modified xsi:type="dcterms:W3CDTF">2026-05-05T12:35:59Z</dcterms:modified>
</cp:coreProperties>
</file>