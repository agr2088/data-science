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17957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ottomBar"/>
          <p:cNvSpPr/>
          <p:nvPr/>
        </p:nvSpPr>
        <p:spPr>
          <a:xfrm>
            <a:off x="0" y="6784848"/>
            <a:ext cx="11795760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1"/>
          <p:cNvSpPr txBox="1"/>
          <p:nvPr/>
        </p:nvSpPr>
        <p:spPr>
          <a:xfrm>
            <a:off x="914400" y="1097280"/>
            <a:ext cx="9966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 i="0">
                <a:solidFill>
                  <a:srgbClr val="00C2B2"/>
                </a:solidFill>
              </a:rPr>
              <a:t>COURSEIQ</a:t>
            </a:r>
          </a:p>
        </p:txBody>
      </p:sp>
      <p:sp>
        <p:nvSpPr>
          <p:cNvPr id="5" name="Title2"/>
          <p:cNvSpPr txBox="1"/>
          <p:nvPr/>
        </p:nvSpPr>
        <p:spPr>
          <a:xfrm>
            <a:off x="914400" y="2285280"/>
            <a:ext cx="9966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RECOMMENDATION SYSTEM</a:t>
            </a:r>
          </a:p>
        </p:txBody>
      </p:sp>
      <p:sp>
        <p:nvSpPr>
          <p:cNvPr id="6" name="Divider"/>
          <p:cNvSpPr/>
          <p:nvPr/>
        </p:nvSpPr>
        <p:spPr>
          <a:xfrm>
            <a:off x="3657600" y="3200400"/>
            <a:ext cx="44805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DevelopedBy"/>
          <p:cNvSpPr txBox="1"/>
          <p:nvPr/>
        </p:nvSpPr>
        <p:spPr>
          <a:xfrm>
            <a:off x="914400" y="3384720"/>
            <a:ext cx="9966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6B35"/>
                </a:solidFill>
              </a:rPr>
              <a:t>Developed by: Group 6</a:t>
            </a:r>
          </a:p>
          <a:p>
            <a:pPr algn="ctr"/>
            <a:endParaRPr sz="500"/>
          </a:p>
          <a:p>
            <a:pPr algn="ctr"/>
            <a:r>
              <a:rPr sz="1400" b="0" i="0">
                <a:solidFill>
                  <a:srgbClr val="B0C4D8"/>
                </a:solidFill>
              </a:rPr>
              <a:t>Aruri Gowtham</a:t>
            </a:r>
          </a:p>
          <a:p>
            <a:pPr algn="ctr"/>
            <a:r>
              <a:rPr sz="1400" b="0" i="0">
                <a:solidFill>
                  <a:srgbClr val="B0C4D8"/>
                </a:solidFill>
              </a:rPr>
              <a:t>Uppala Bhavana</a:t>
            </a:r>
          </a:p>
          <a:p>
            <a:pPr algn="ctr"/>
            <a:r>
              <a:rPr sz="1400" b="0" i="0">
                <a:solidFill>
                  <a:srgbClr val="B0C4D8"/>
                </a:solidFill>
              </a:rPr>
              <a:t>Ammagaripeta Chandana</a:t>
            </a:r>
          </a:p>
          <a:p>
            <a:pPr algn="ctr"/>
            <a:r>
              <a:rPr sz="1400" b="0" i="0">
                <a:solidFill>
                  <a:srgbClr val="B0C4D8"/>
                </a:solidFill>
              </a:rPr>
              <a:t>Trupti Anil Kathale</a:t>
            </a:r>
          </a:p>
          <a:p>
            <a:pPr algn="ctr"/>
            <a:r>
              <a:rPr sz="1400" b="0" i="0">
                <a:solidFill>
                  <a:srgbClr val="B0C4D8"/>
                </a:solidFill>
              </a:rPr>
              <a:t>Praveen Ambore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530705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45755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Build a Course Recommendation System?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657600" cy="27432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54864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2B2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Information Overload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Thousands of online courses make it near-impossible for learners to find relevant content without intelligent filtering.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325880"/>
            <a:ext cx="3657600" cy="27432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33672" y="1325880"/>
            <a:ext cx="3657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0832" y="1371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965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Cold-Start &amp; Engagement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4231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New learners have no history; even active users abandon platforms due to irrelevant suggestions and poor personalisation.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1325880"/>
            <a:ext cx="3657600" cy="27432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47304" y="1325880"/>
            <a:ext cx="365760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1371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C4D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965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Complex Learner 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4231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Interests, pace, difficulty level, and budget interact in non-linear ways — requiring ML to surface personalised matches.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51960"/>
            <a:ext cx="11521440" cy="192024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4251960"/>
            <a:ext cx="54864" cy="192024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Our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81728"/>
            <a:ext cx="11064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Build CourseIQ — an end-to-end hybrid recommendation platform that blends 5 ML models (Content-Based, Collaborative ALS, KNN, Popularity, UserInterest) with adaptive cold/warm/active user segmentation. Delivers top-10 personalised course recommendations, content similarity search, domain intelligence, and offline evaluation — all via an interactive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380744" cy="20116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307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651760" cy="9144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00C2B2"/>
                </a:solidFill>
              </a:rPr>
              <a:t>99,764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4650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Interaction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34440"/>
            <a:ext cx="2651760" cy="9144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28016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43,242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4650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Unique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2651760" cy="9144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2651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7C4DFF"/>
                </a:solidFill>
              </a:rPr>
              <a:t>2</a:t>
            </a:r>
            <a:r>
              <a:rPr sz="2800" b="1" i="0" dirty="0">
                <a:solidFill>
                  <a:srgbClr val="7C4DFF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4650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Unique Courses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234440"/>
            <a:ext cx="2651760" cy="9144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128016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96"/>
                </a:solidFill>
              </a:rPr>
              <a:t>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74650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Missing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77440"/>
            <a:ext cx="5303520" cy="420624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Input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16352"/>
            <a:ext cx="5303520" cy="228600"/>
          </a:xfrm>
          <a:prstGeom prst="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user_id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834640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Unique learner identifier (1–49,999)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67812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course_id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067812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Canonical course ID (0–399)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82696"/>
            <a:ext cx="5303520" cy="228600"/>
          </a:xfrm>
          <a:prstGeom prst="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30098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course_duration_hours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3300984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Duration in hours  (5–100)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534156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difficulty_level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3534156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Beginner / Intermediate / Advanced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49040"/>
            <a:ext cx="5303520" cy="228600"/>
          </a:xfrm>
          <a:prstGeom prst="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767328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rating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3767328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User star rating  (1.0–5.0)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000500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enrollment_numbers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4000500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Total enrolled students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215384"/>
            <a:ext cx="5303520" cy="228600"/>
          </a:xfrm>
          <a:prstGeom prst="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4233672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course_price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4233672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Price in USD  ($20–$500)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466844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feedback_score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466844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Sentiment score  (0.0–1.0)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681728"/>
            <a:ext cx="5303520" cy="228600"/>
          </a:xfrm>
          <a:prstGeom prst="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700016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certification_offered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4700016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Yes/No  →  70.1% offer cert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933188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study_material_available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4933188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Yes/No  →  85.1% provide mats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148072"/>
            <a:ext cx="5303520" cy="228600"/>
          </a:xfrm>
          <a:prstGeom prst="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5166360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time_spent_hours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166360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Avg hours spent  (1–100)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399532"/>
            <a:ext cx="187451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previous_courses_taken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3160" y="5399532"/>
            <a:ext cx="30632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Prior course count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2377440"/>
            <a:ext cx="6035040" cy="420624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806440" y="2377440"/>
            <a:ext cx="6035040" cy="4572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0" y="2468880"/>
            <a:ext cx="5852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2"/>
                </a:solidFill>
              </a:rPr>
              <a:t>Key Dataset Insights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2880360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99048" y="2834640"/>
            <a:ext cx="56235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99,764 interactions across 43,242 unique users &amp; 20 courses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0" y="3264408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99048" y="3218688"/>
            <a:ext cx="56235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Avg engagement score: 0.576 — healthy learner involvement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648456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99048" y="3602736"/>
            <a:ext cx="56235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70.1% courses offer certification; 85.1% include study materials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4032504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99048" y="3986784"/>
            <a:ext cx="56235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Difficulty split: 49.9% Beginner · 29.9% Intermediate · 20.2% Advanced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4416552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99048" y="4370832"/>
            <a:ext cx="56235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Avg weighted (Bayesian) course rating: 3.96 / 5.0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4800600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099048" y="4754880"/>
            <a:ext cx="56235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Price distribution: 52.6% High · 30.8% Mid · 16.6% Low tier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5184648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099048" y="5138928"/>
            <a:ext cx="56235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3 engineered features: completion_rate, engagement_score, weighted_score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2130552" cy="20116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 from 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5669280" cy="1874519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69280" cy="4572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Interaction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Most users have 3–8 interactions. Sparsity filtering (min_interactions=3) retains high-quality interaction signal while removing noise from one-time visitors.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669280" cy="1874519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6692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59" y="1463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Course Popularity Skew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Top 5% of courses account for &gt;40% of all enrollments. Bayesian smoothed weighted_score corrects for popularity bias in cold-start scenarios.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83280"/>
            <a:ext cx="5669280" cy="1874519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383280"/>
            <a:ext cx="566928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520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Semantic Feature Richness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77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MiniLM (all-MiniLM-L6-v2) encodes 384-dim embeddings per course from title + instructor + difficulty + price + certification corpus.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383280"/>
            <a:ext cx="5669280" cy="1874519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383280"/>
            <a:ext cx="5669280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95159" y="3520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 3 Engagement Predictors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77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#1 feedback_score   #2 completion_rate   #3 rating — all 3 are strong discriminators for high vs low engagement.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440680"/>
            <a:ext cx="3749039" cy="77724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5486400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B2"/>
                </a:solidFill>
              </a:rPr>
              <a:t>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95274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Missing Values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5440680"/>
            <a:ext cx="3749039" cy="77724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70248" y="5486400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14/14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595274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Features Retained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0456" y="5440680"/>
            <a:ext cx="3749039" cy="77724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0456" y="5486400"/>
            <a:ext cx="3749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C2B2"/>
                </a:solidFill>
              </a:rPr>
              <a:t>99,764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595274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Interaction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2130552" cy="20116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Distributions &amp; Interaction Patterns</a:t>
            </a:r>
          </a:p>
        </p:txBody>
      </p:sp>
      <p:pic>
        <p:nvPicPr>
          <p:cNvPr id="5" name="Picture 4" descr="07_user_interac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30352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9776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B2"/>
                </a:solidFill>
              </a:rPr>
              <a:t>User Interaction Distribution</a:t>
            </a:r>
          </a:p>
        </p:txBody>
      </p:sp>
      <p:pic>
        <p:nvPicPr>
          <p:cNvPr id="7" name="Picture 6" descr="02_popularity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188720"/>
            <a:ext cx="612648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3977639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35"/>
                </a:solidFill>
              </a:rPr>
              <a:t>Course Popularity Ranking (Bayesian Weighted Score)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89120"/>
            <a:ext cx="11612880" cy="22860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4389120"/>
            <a:ext cx="45720" cy="22860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2"/>
                </a:solidFill>
              </a:rPr>
              <a:t>Key Findings from Feature Distribution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64008" cy="6400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4818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2B2"/>
                </a:solidFill>
              </a:rPr>
              <a:t>User Interactions (log 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0474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Median = 2 interactions/user; K-neighbours threshold = 20. Right-skewed: majority are cold/warm users.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846320"/>
            <a:ext cx="64008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4818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</a:rPr>
              <a:t>Course Popularity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50474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Bayesian weighted_score normalises enrollment skew — prevents popular-gets-more-popular bias in recommendations.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69280"/>
            <a:ext cx="64008" cy="6400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56418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4DFF"/>
                </a:solidFill>
              </a:rPr>
              <a:t>Difficulty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8704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49.9% Beginner interactions · 29.9% Intermediate · 20.2% Advanced — reflects learner preference for entry-level content.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669280"/>
            <a:ext cx="64008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56418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</a:rPr>
              <a:t>Cold-start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8704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22% of users have &lt;2 interactions — Popularity + Content arms activated exclusively to serve these users at zero collaborative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2130552" cy="20116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Embedding Space &amp; Content Similarity Analysis</a:t>
            </a:r>
          </a:p>
        </p:txBody>
      </p:sp>
      <p:pic>
        <p:nvPicPr>
          <p:cNvPr id="5" name="Picture 4" descr="01_embedding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343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C2B2"/>
                </a:solidFill>
              </a:rPr>
              <a:t>MiniLM-L6-v2 Semantic Embedding Space (PCA 2D)</a:t>
            </a:r>
          </a:p>
        </p:txBody>
      </p:sp>
      <p:pic>
        <p:nvPicPr>
          <p:cNvPr id="7" name="Picture 6" descr="03_content_similarity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94360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43434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6B35"/>
                </a:solidFill>
              </a:rPr>
              <a:t>Top-10 Content-Similar Courses (Cosine Similarity)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709160"/>
            <a:ext cx="11612880" cy="196596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4709160"/>
            <a:ext cx="45720" cy="196596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2"/>
                </a:solidFill>
              </a:rPr>
              <a:t>Key Insights — Embedding &amp; Similarity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64008" cy="6400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510235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2B2"/>
                </a:solidFill>
              </a:rPr>
              <a:t>MiniLM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32180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384-dim dense vectors from structured text corpus: title + instructor + difficulty + price + cert status.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120640"/>
            <a:ext cx="64008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510235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</a:rPr>
              <a:t>PCA Clusters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532180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Courses cluster by domain in 2D PCA projection — Data Science, Tech, Security, Business visible as distinct regions.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52159"/>
            <a:ext cx="64008" cy="6400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583387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4DFF"/>
                </a:solidFill>
              </a:rPr>
              <a:t>Cosine 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05332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Content model achieves HitRate@10 = 68.0% (exact) / 93.4% (family) — semantic matching works well at course-family level.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852159"/>
            <a:ext cx="64008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583387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</a:rPr>
              <a:t>L2 Normalisation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605332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Combined matrix (MiniLM 384-dim + 10 numeric features) L2-normalised before similarity computation to prevent scale dominance.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2130552" cy="20116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User Interest Profiles &amp; ALS Factor Analysis</a:t>
            </a:r>
          </a:p>
        </p:txBody>
      </p:sp>
      <p:pic>
        <p:nvPicPr>
          <p:cNvPr id="5" name="Picture 4" descr="04_user_interest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C2B2"/>
                </a:solidFill>
              </a:rPr>
              <a:t>User Interest Profile Clusters</a:t>
            </a:r>
          </a:p>
        </p:txBody>
      </p:sp>
      <p:pic>
        <p:nvPicPr>
          <p:cNvPr id="7" name="Picture 6" descr="05_als_factor_no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94360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4251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6B35"/>
                </a:solidFill>
              </a:rPr>
              <a:t>ALS Latent Factor Norms (Collaborative Filtering)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617720"/>
            <a:ext cx="11612880" cy="21031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4617720"/>
            <a:ext cx="45720" cy="2103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4DFF"/>
                </a:solidFill>
              </a:rPr>
              <a:t>Key Insights — User Profiles &amp; ALS Factors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64008" cy="6400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50749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4DFF"/>
                </a:solidFill>
              </a:rPr>
              <a:t>User Interest Vectors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27608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B0C4D8"/>
                </a:solidFill>
              </a:rPr>
              <a:t>Per-user content vectors built as weighted average of seen course embeddings (weight = rating). Covers 100% of all users.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120640"/>
            <a:ext cx="64008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50749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</a:rPr>
              <a:t>ALS Latent Factors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527608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B0C4D8"/>
                </a:solidFill>
              </a:rPr>
              <a:t>BM25-weighted implicit ALS decomposes the 43,242 × 20 sparse CSR matrix into latent user and item factor matrices.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50992"/>
            <a:ext cx="64008" cy="6400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56052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2B2"/>
                </a:solidFill>
              </a:rPr>
              <a:t>Cold-Start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80644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B0C4D8"/>
                </a:solidFill>
              </a:rPr>
              <a:t>228 cold users (&lt;2 int) fall back to content + popularity. ALS excluded from cold regime; UserInterest weight = 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650992"/>
            <a:ext cx="64008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56052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</a:rPr>
              <a:t>Interest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80644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B0C4D8"/>
                </a:solidFill>
              </a:rPr>
              <a:t>100% interest profile coverage — every user gets a personalised vector even with just 1 interaction via content arm fallback.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181344"/>
            <a:ext cx="64008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61356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C00"/>
                </a:solidFill>
              </a:rPr>
              <a:t>Top Predictors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33679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B0C4D8"/>
                </a:solidFill>
              </a:rPr>
              <a:t>feedback_score (#1), completion_rate (#2), rating (#3) — strongest engagement discriminators confirmed by mutual info analysis.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6181344"/>
            <a:ext cx="64008" cy="6400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61356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4DFF"/>
                </a:solidFill>
              </a:rPr>
              <a:t>ALS 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633679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B0C4D8"/>
                </a:solidFill>
              </a:rPr>
              <a:t>BM25 confidence weighting amplifies strong positive interactions; near-zero interactions treated as implicit negatives.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2130552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MACHINE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End-to-End 6-Stage Training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669280" cy="16002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4864" cy="16002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2B2"/>
                </a:solidFill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568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Reads Excel via openpyxl. Validates schema + range checks. Outputs raw DataFrame.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669280" cy="16002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4864" cy="1600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099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7568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Canonical ID mapping. Sparsity filtering (≥3). Feature engineering: completion_rate, engagement_score, price_tier. MinMax normalisation.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5669280" cy="16002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108960"/>
            <a:ext cx="54864" cy="1600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4DFF"/>
                </a:solidFill>
              </a:rP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930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Artifact Loading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Loads PKL artifacts: user-item matrix (sparse CSR), course feature store, fitted scaler.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108960"/>
            <a:ext cx="5669280" cy="16002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108960"/>
            <a:ext cx="54864" cy="1600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596"/>
                </a:solidFill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4930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587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MiniLM sentence embeddings (384-dim). Numeric MinMax scaling on 10 columns. L2-normalised combined matrix.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92040"/>
            <a:ext cx="5669280" cy="16002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892040"/>
            <a:ext cx="54864" cy="1600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9834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C00"/>
                </a:solidFill>
              </a:rPr>
              <a:t>Stage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760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4184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Trains all 5 arms: Popularity → Content → UserInterest → Collaborative ALS → KNN. Assembles HybridModel.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892040"/>
            <a:ext cx="5669280" cy="16002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4892040"/>
            <a:ext cx="54864" cy="16002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49834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2B2"/>
                </a:solidFill>
              </a:rPr>
              <a:t>Stage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2760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Offline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64184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User holdout split. Metrics: Precision@K, Recall@K, MAP@K, NDCG@K, HitRate@K. Segments: cold/warm/active.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8AA8"/>
                </a:solidFill>
              </a:rPr>
              <a:t>$ python main.py train   |   $ python main.py serve   |   Opens on localhost:8501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305763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2326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MODEL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600" b="1" i="0" dirty="0">
                <a:solidFill>
                  <a:srgbClr val="FFFFFF"/>
                </a:solidFill>
              </a:rPr>
              <a:t>Key Points — </a:t>
            </a:r>
            <a:r>
              <a:rPr sz="2600" b="1" i="0" dirty="0">
                <a:solidFill>
                  <a:srgbClr val="FFFFFF"/>
                </a:solidFill>
              </a:rPr>
              <a:t>Model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98448"/>
            <a:ext cx="566928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54864" cy="118872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2B2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081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Canonical ID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course_name + instructor pairs collapsed to single course_id — resolves catalogue fragmentation from raw ID duplication.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98448"/>
            <a:ext cx="566928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4864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40817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Three-Tier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47088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Exact course / course_family / soft_relevance tiers segmented by cold (&lt;2) / warm (2–4) / active (&gt;4) user cohorts for fair assessment.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24328"/>
            <a:ext cx="566928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624328"/>
            <a:ext cx="54864" cy="1188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157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4D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340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Semantic Encoding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72968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all-MiniLM-L6-v2 sentence-transformer produces 384-dim vectors from structured text corpus: title + instructor + difficulty + price + cert.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624328"/>
            <a:ext cx="566928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624328"/>
            <a:ext cx="54864" cy="1188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7157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596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7340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BM25-Weighted 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72968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ALS collaborative filtering (implicit library) uses BM25 confidence weighting on sparse CSR user-item matrix for better implicit feedback.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50208"/>
            <a:ext cx="566928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950208"/>
            <a:ext cx="54864" cy="1188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04164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C00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0599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Dominance Floor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98848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Final hybrid score floored at 98% of best arm score — ensemble never underperforms its strongest sub-model.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950208"/>
            <a:ext cx="566928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3950208"/>
            <a:ext cx="54864" cy="118872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404164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2B2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0599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Business Logic Boosts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498848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+2% for certification  ·  +1% for study materials  ·  +3% for difficulty progression alignment.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76088"/>
            <a:ext cx="566928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74320" y="5276088"/>
            <a:ext cx="54864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3675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35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38581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Score Normalisation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824727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Every arm's raw scores min-max normalised to [0,1] before blending — prevents scale dominance from enrollment-count-heavy arms.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276088"/>
            <a:ext cx="566928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63640" y="5276088"/>
            <a:ext cx="54864" cy="1188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536752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4D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538581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Sparsity Filtering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824727"/>
            <a:ext cx="5349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min_interactions=3 threshold applied iteratively — ensures both user and course have sufficient signal for reliable model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305763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2326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MODEL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6 Models Trained &amp;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98448"/>
            <a:ext cx="6858000" cy="795528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54864" cy="79552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624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1. ContentBasedModel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624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C2B2"/>
                </a:solidFill>
              </a:rPr>
              <a:t>scikit-learn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Cosine similarity on L2-normalised course content matrix (MiniLM 384-dim + 10 numeric features).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85415"/>
            <a:ext cx="6858000" cy="795528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185415"/>
            <a:ext cx="54864" cy="7955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24942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2. CollaborativeModel (ALS)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2494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6B35"/>
                </a:solidFill>
              </a:rPr>
              <a:t>implicit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51176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Matrix factorisation via ALS with BM25-weighted implicit feedback on sparse CSR user-item matrix.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72384"/>
            <a:ext cx="6858000" cy="795528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072384"/>
            <a:ext cx="54864" cy="79552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136391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3. KNNRecommender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136391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7C4DFF"/>
                </a:solidFill>
              </a:rPr>
              <a:t>sklearn NearestNeighbors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38144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User-based cosine KNN (k=20) aggregating neighbour interactions weighted by similarity score.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59352"/>
            <a:ext cx="6858000" cy="795528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959352"/>
            <a:ext cx="54864" cy="7955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4. PopularityModel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023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E596"/>
                </a:solidFill>
              </a:rPr>
              <a:t>pandas / numpy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2511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Bayesian smoothed weighted_score ranking. Optional difficulty-level filtering for targeted cold-start.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46320"/>
            <a:ext cx="6858000" cy="795528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846320"/>
            <a:ext cx="54864" cy="79552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9103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5. UserInterestModel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9103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CC00"/>
                </a:solidFill>
              </a:rPr>
              <a:t>numpy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1208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Explicit per-user content vectors from weighted average of seen course embeddings.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733288"/>
            <a:ext cx="6858000" cy="795528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5733288"/>
            <a:ext cx="54864" cy="79552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7972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6. HybridModel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7972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C2B2"/>
                </a:solidFill>
              </a:rPr>
              <a:t>custom ensemble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09904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Adaptive weighted ensemble of all 5 arms. Regime: cold/warm/active. Dominance floor = 98%.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1298448"/>
            <a:ext cx="4572000" cy="22860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60920" y="1298448"/>
            <a:ext cx="4572000" cy="54864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138988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2"/>
                </a:solidFill>
              </a:rPr>
              <a:t>Best: Hybrid Model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1810512"/>
            <a:ext cx="1051560" cy="100584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0" y="1856231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B2"/>
                </a:solidFill>
              </a:rPr>
              <a:t>88.6%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2322576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HitRate@10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19" y="1810512"/>
            <a:ext cx="1051560" cy="100584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19" y="1856231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99.2%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19" y="2322576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Catalogue
Coverage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1810512"/>
            <a:ext cx="1051560" cy="100584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01200" y="1856231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4DFF"/>
                </a:solidFill>
              </a:rPr>
              <a:t>58.1%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2322576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NDCG@10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98480" y="1810512"/>
            <a:ext cx="1051560" cy="100584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698480" y="1856231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96"/>
                </a:solidFill>
              </a:rPr>
              <a:t>48.1%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2322576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MAP@10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60920" y="3639312"/>
            <a:ext cx="4572000" cy="3035808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60920" y="3639312"/>
            <a:ext cx="4572000" cy="4572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98080" y="373075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2"/>
                </a:solidFill>
              </a:rPr>
              <a:t>Why Hybrid Wins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0" y="4142232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53528" y="4096512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Graceful cold-start: Popularity + Content arms cover new users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0" y="4526280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53528" y="4480560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ALS captures collaborative signal for warm/active users (≥2 int)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80" y="4910328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653528" y="4864608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Score normalisation stops enrollment-heavy arms dominating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80" y="5294376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653528" y="5248656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Dominance floor: ensemble score ≥ best arm × 98%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80" y="5678424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653528" y="5632704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Business boosts: +2% cert · +1% study mat · +3% diff prog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98080" y="6062472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653528" y="6016752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* ALS HitRate=100%: likely holdout-split artefact on sparse data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6446520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653528" y="6400800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† KNN HitRate=0%: sparsity prevents meaningful neighbourhood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305763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2326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MODEL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Hybrid Ensemble — Adaptive Weight Regimes</a:t>
            </a:r>
          </a:p>
        </p:txBody>
      </p:sp>
      <p:pic>
        <p:nvPicPr>
          <p:cNvPr id="5" name="Picture 4" descr="07_hybrid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0749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B2"/>
                </a:solidFill>
              </a:rPr>
              <a:t>Adaptive Hybrid Weights by User Segment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188720"/>
            <a:ext cx="5486400" cy="384048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Weight Regimes by User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C4D8"/>
                </a:solidFill>
              </a:rPr>
              <a:t>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2B2"/>
                </a:solidFill>
              </a:rPr>
              <a:t>Cold (&lt;2)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</a:rPr>
              <a:t>Warm (2–4)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</a:rPr>
              <a:t>Active (&gt;4)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039112"/>
            <a:ext cx="5486400" cy="420624"/>
          </a:xfrm>
          <a:prstGeom prst="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2B2"/>
                </a:solidFill>
              </a:rPr>
              <a:t>0.45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35"/>
                </a:solidFill>
              </a:rPr>
              <a:t>0.65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0.70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Popularity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2B2"/>
                </a:solidFill>
              </a:rPr>
              <a:t>0.55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35"/>
                </a:solidFill>
              </a:rPr>
              <a:t>0.18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0.12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953512"/>
            <a:ext cx="5486400" cy="420624"/>
          </a:xfrm>
          <a:prstGeom prst="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Collaborative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2B2"/>
                </a:solidFill>
              </a:rPr>
              <a:t>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35"/>
                </a:solidFill>
              </a:rPr>
              <a:t>0.06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0.08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UserInterest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2B2"/>
                </a:solidFill>
              </a:rPr>
              <a:t>0.00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35"/>
                </a:solidFill>
              </a:rPr>
              <a:t>0.08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0.07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867912"/>
            <a:ext cx="5486400" cy="420624"/>
          </a:xfrm>
          <a:prstGeom prst="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KNN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2B2"/>
                </a:solidFill>
              </a:rPr>
              <a:t>0.00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35"/>
                </a:solidFill>
              </a:rPr>
              <a:t>0.03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0.03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206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8AA8"/>
                </a:solidFill>
              </a:rPr>
              <a:t>Weights re-normalised at runtime over arms returning results.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526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2B2"/>
                </a:solidFill>
              </a:rPr>
              <a:t>Dominance floor: final_score = max(blended, best_arm × 0.98)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455724" cy="20116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3825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Comprehensive Evaluation Results</a:t>
            </a:r>
          </a:p>
        </p:txBody>
      </p:sp>
      <p:pic>
        <p:nvPicPr>
          <p:cNvPr id="5" name="Picture 4" descr="08_evalu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709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C2B2"/>
                </a:solidFill>
              </a:rPr>
              <a:t>NDCG@10 Heatmap — All Models × Relevance Tiers</a:t>
            </a:r>
          </a:p>
        </p:txBody>
      </p:sp>
      <p:pic>
        <p:nvPicPr>
          <p:cNvPr id="7" name="Picture 6" descr="06_knn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76072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7091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6B35"/>
                </a:solidFill>
              </a:rPr>
              <a:t>KNN Diagnostics — Sparsity &amp; Neighbourhood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074920"/>
            <a:ext cx="11612880" cy="169164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5074920"/>
            <a:ext cx="45720" cy="16916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4DFF"/>
                </a:solidFill>
              </a:rPr>
              <a:t>Key Evaluation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605272"/>
            <a:ext cx="73152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5321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4DFF"/>
                </a:solidFill>
              </a:rPr>
              <a:t>Hybrid NDCG@10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5157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0.5809 (exact) → 0.6979 (family) → 0.7204 (soft) — gains 13.9pp as relevance tier widens.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605272"/>
            <a:ext cx="731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55321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</a:rPr>
              <a:t>Collaborative 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75157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Perfect scores (NDCG=1.0) on all tiers — likely holdout-split artefact; strong on warm/active users in practice.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27064"/>
            <a:ext cx="731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1539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2B2"/>
                </a:solidFill>
              </a:rPr>
              <a:t>KNN Sparsity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7336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HitRate@10 = 0.0% on exact tier. Sparse interaction matrix (43K users × 20 courses) yields insufficient neighbourhoods.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6227064"/>
            <a:ext cx="73152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61539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</a:rPr>
              <a:t>Cold/Warm/Active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37336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4D8"/>
                </a:solidFill>
              </a:rPr>
              <a:t>Cold: HitRate=75.0%  |  Warm: HitRate=100%  |  Active: HitRate=100% — clear segment performance progression.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455724" cy="20116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3825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Performance Comparison</a:t>
            </a:r>
          </a:p>
        </p:txBody>
      </p:sp>
      <p:pic>
        <p:nvPicPr>
          <p:cNvPr id="5" name="Picture 4" descr="09_hitra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57784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1605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C2B2"/>
                </a:solidFill>
              </a:rPr>
              <a:t>HitRate@10 — All Models × All Tiers</a:t>
            </a:r>
          </a:p>
        </p:txBody>
      </p:sp>
      <p:pic>
        <p:nvPicPr>
          <p:cNvPr id="7" name="Picture 6" descr="10_model_comparison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85216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41605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6B35"/>
                </a:solidFill>
              </a:rPr>
              <a:t>Overall Model Comparison — Composite NDCG &amp; Soft Relevance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526280"/>
            <a:ext cx="11612880" cy="9144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Best: Hybrid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892040"/>
            <a:ext cx="2194560" cy="9601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4937759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B2"/>
                </a:solidFill>
              </a:rPr>
              <a:t>88.6%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40410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HitRate
(Exact)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4892040"/>
            <a:ext cx="2194560" cy="9601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4937759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97.8%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540410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HitRate
(Family)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79" y="4892040"/>
            <a:ext cx="2194560" cy="9601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79" y="4937759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96"/>
                </a:solidFill>
              </a:rPr>
              <a:t>99.0%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79" y="540410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HitRate
(Soft)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199" y="4892040"/>
            <a:ext cx="2194560" cy="9601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199" y="4937759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4DFF"/>
                </a:solidFill>
              </a:rPr>
              <a:t>58.1%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540410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NDCG@10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19" y="4892040"/>
            <a:ext cx="2194560" cy="9601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46919" y="4937759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C00"/>
                </a:solidFill>
              </a:rPr>
              <a:t>99.2%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540410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Catalogue
Coverage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43600"/>
            <a:ext cx="11612880" cy="9144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5943600"/>
            <a:ext cx="45720" cy="9144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6016752"/>
            <a:ext cx="64008" cy="6400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59710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B2"/>
                </a:solidFill>
              </a:rPr>
              <a:t>Soft Relevance HitRate=99%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19963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B0C4D8"/>
                </a:solidFill>
              </a:rPr>
              <a:t>Almost all recommendations are relevant at the domain/topic level — even if not exact course.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6016752"/>
            <a:ext cx="64008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07992" y="59710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35"/>
                </a:solidFill>
              </a:rPr>
              <a:t>Collaborative dominance on exact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619963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B0C4D8"/>
                </a:solidFill>
              </a:rPr>
              <a:t>ALS achieves perfect scores — strong collaborative signal when sufficient interaction history exists.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6016752"/>
            <a:ext cx="64008" cy="6400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94192" y="59710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4DFF"/>
                </a:solidFill>
              </a:rPr>
              <a:t>Hybrid balances all segments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619963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B0C4D8"/>
                </a:solidFill>
              </a:rPr>
              <a:t>Strong generalisation: 75% cold · 100% warm · 100% active HitRate — no segment left behind.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3255264" cy="20116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3182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MODEL SELECTION  |  STREAMLIT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Model Selection &amp; Streamlit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669280" cy="89611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4864" cy="89611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▶ Hybrid-First 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824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Hybrid model chosen for maximum generalisation — balances cold/warm/active users with adaptive regime selection.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7712"/>
            <a:ext cx="5669280" cy="89611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267712"/>
            <a:ext cx="54864" cy="8961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▶ HybridModel — Champion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00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88.6% HitRate@10, 58.1% NDCG@10, 99.2% catalogue coverage — strong performance across all user segments.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55264"/>
            <a:ext cx="5669280" cy="89611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255264"/>
            <a:ext cx="54864" cy="89611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3192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▶ High Interpretability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UserInterestModel provides per-user top instructors, difficulty preferences, and course vectors for explainability.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42816"/>
            <a:ext cx="5669280" cy="89611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4242816"/>
            <a:ext cx="54864" cy="89611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3068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▶ Coefficient-Based 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45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Feature contribution charts reveal WHICH factors drove each recommendation — critical for learner trust.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230368"/>
            <a:ext cx="5669280" cy="89611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5230368"/>
            <a:ext cx="54864" cy="89611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2943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▶ Model Serialisation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327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All 6 model arms saved as Joblib PKL — fast loading on Streamlit startup via @st.cache_resource.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280160"/>
            <a:ext cx="5760720" cy="80467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1280160"/>
            <a:ext cx="731520" cy="80467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44768" y="13716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13441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Risk Input Panel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1645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User ID selector + model chooser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176272"/>
            <a:ext cx="5760720" cy="80467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26480" y="2176272"/>
            <a:ext cx="7315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44768" y="226771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240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Live 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5420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Top-10 course cards + scores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072384"/>
            <a:ext cx="5760720" cy="80467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26480" y="3072384"/>
            <a:ext cx="731520" cy="80467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44768" y="316382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VIZ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13639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Visual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4381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Radar, sunburst, Sankey, treemap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968496"/>
            <a:ext cx="5760720" cy="80467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0" y="3968496"/>
            <a:ext cx="731520" cy="8046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44768" y="4059935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EXPLAIN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0325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Explainability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3342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Feature contribution per course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4864608"/>
            <a:ext cx="5760720" cy="80467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26480" y="4864608"/>
            <a:ext cx="731520" cy="80467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44768" y="495604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SIM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49286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Course Similarity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52303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Cosine heatmap + similar cards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760720"/>
            <a:ext cx="5760720" cy="80467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26480" y="5760720"/>
            <a:ext cx="731520" cy="80467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44768" y="585216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824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CSV Download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6126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Export full recommendation report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8AA8"/>
                </a:solidFill>
              </a:rPr>
              <a:t>5 Models Compared   |   6 Dashboard Tabs   |   88.6% HitRate (Best Model)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830628" cy="20116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7574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RECOMMENDATION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Recommendation Scoring &amp; Interpretation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943600" cy="658368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4864" cy="65836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Active (&gt;4 interactions)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8"/>
                </a:solidFill>
              </a:rPr>
              <a:t>0.70 Content | 0.12 Pop | 0.08 Collab | 0.07 UI | 0.03 KNN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5943600" cy="658368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Warm (2–4 interactions)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048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8"/>
                </a:solidFill>
              </a:rPr>
              <a:t>0.65 Content | 0.18 Pop | 0.06 Collab | 0.08 UI | 0.03 KNN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39"/>
            <a:ext cx="5943600" cy="658368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2834639"/>
            <a:ext cx="54864" cy="65836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2"/>
                </a:solidFill>
              </a:rPr>
              <a:t>Cold (&lt;2 interactions)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821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8"/>
                </a:solidFill>
              </a:rPr>
              <a:t>0.45 Content | 0.55 Pop | 0.00 Collab | 0.00 UI | 0.00 KNN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49039"/>
            <a:ext cx="274320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749039"/>
            <a:ext cx="2743200" cy="4572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2"/>
                </a:solidFill>
              </a:rPr>
              <a:t>Hybrid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24527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Blended weighted score
from all active arms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749039"/>
            <a:ext cx="274320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3749039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0" y="38587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Catalogue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224527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99.2% of courses
appear in recommendations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20640"/>
            <a:ext cx="274320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5120640"/>
            <a:ext cx="2743200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230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4DFF"/>
                </a:solidFill>
              </a:rPr>
              <a:t>Business Boosts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96127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+2% cert  +1% materials
+3% difficulty progression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5120640"/>
            <a:ext cx="2743200" cy="11887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46120" y="5120640"/>
            <a:ext cx="2743200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5230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Dominance Floor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596127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max(blended, best_arm
× 0.98) guaranteed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280160"/>
            <a:ext cx="5577840" cy="521208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How Recommendations Are Generated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810512"/>
            <a:ext cx="292608" cy="29260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18288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1810512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User ID → activity segment (cold/warm/active) determined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304288"/>
            <a:ext cx="29260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19088" y="23225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230428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All active arms produce ranked candidate lists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798064"/>
            <a:ext cx="292608" cy="29260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19088" y="281635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2798064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Each arm's scores min-max normalised to [0, 1]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291840"/>
            <a:ext cx="292608" cy="2926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19088" y="33101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29184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Normalised scores blended using regime weights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785616"/>
            <a:ext cx="292608" cy="2926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19088" y="38039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3785616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Dominance floor applied to guarantee quality floor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279392"/>
            <a:ext cx="292608" cy="29260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19088" y="42976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279392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Business logic boosts applied (cert, materials, difficulty)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773168"/>
            <a:ext cx="29260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19088" y="47914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77316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Duplicate (course, instructor) pairs removed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5266944"/>
            <a:ext cx="292608" cy="29260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19088" y="52852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5266944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Top-N sorted by final score → Dashboard render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755648" cy="20116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STREAMLIT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Interactive Streamlit Dashboard — 5 Tabs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9601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4864" cy="96012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Tab 1 —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KPI metrics bar: total users, courses, avg rating, certs, study materials. Animated recommendation cards ranked by hybrid score with difficulty badges, domain badges, and engagement sparklines. Model selector: Hybrid / Content / Collaborative / Popularity.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11612880" cy="9601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54864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3500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Tab 2 — Course Similarity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1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Select any course from history or catalogue and retrieve top-N semantically similar courses. Similarity scores as styled cards. Cosine similarity heatmap visualisation.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37560"/>
            <a:ext cx="11612880" cy="9601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337560"/>
            <a:ext cx="54864" cy="960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4015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Tab 3 — Domain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3075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Platform-wide analytics: radar chart of course attributes by domain, sunburst user interest profile, Sankey enrollment flow, scatter plot price vs rating, treemap of full catalogue coloured by domain.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89120"/>
            <a:ext cx="11612880" cy="9601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4389120"/>
            <a:ext cx="54864" cy="9601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453127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Tab 4 — Model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8231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Reads evaluation_metrics.json → NDCG@10 heatmap across all models and tiers. Grouped bar chart comparing HitRate@10. Cold/warm/active segment breakdown 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40679"/>
            <a:ext cx="11612880" cy="9601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5440679"/>
            <a:ext cx="54864" cy="9601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5046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Tab 5 — Data Explorer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3387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Full raw dataset table with TF-IDF semantic search. Domain distribution bar chart. Pipeline stage diagram. Difficulty × price distribution heatmap.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8AA8"/>
                </a:solidFill>
              </a:rPr>
              <a:t>Run: streamlit run app/app.py   |   Pipeline: python main.py   |   localhost:8501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455724" cy="20116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3825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STREAMLIT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Dashboard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292608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45720" cy="29260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2B2"/>
                </a:solidFill>
              </a:rPr>
              <a:t>Tab 1 — Recommendations: Top-10 hybrid scored course cards for User #1042 (Active segment)</a:t>
            </a:r>
          </a:p>
        </p:txBody>
      </p:sp>
      <p:pic>
        <p:nvPicPr>
          <p:cNvPr id="8" name="Picture 7" descr="streamlit_t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36192"/>
            <a:ext cx="11612880" cy="301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4663440"/>
            <a:ext cx="5577840" cy="25603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4663440"/>
            <a:ext cx="45720" cy="2560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468172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4DFF"/>
                </a:solidFill>
              </a:rPr>
              <a:t>Tab 3 — Domain Intelligence: Radar · Treemap · Distribution</a:t>
            </a:r>
          </a:p>
        </p:txBody>
      </p:sp>
      <p:pic>
        <p:nvPicPr>
          <p:cNvPr id="12" name="Picture 11" descr="streamlit_ta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974336"/>
            <a:ext cx="5577840" cy="1783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35040" y="4663440"/>
            <a:ext cx="5852160" cy="25603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0" y="4663440"/>
            <a:ext cx="4572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468172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35"/>
                </a:solidFill>
              </a:rPr>
              <a:t>Tab 4 — Model Evaluation: NDCG Heatmap · HitRate Chart · Segment Table</a:t>
            </a:r>
          </a:p>
        </p:txBody>
      </p:sp>
      <p:pic>
        <p:nvPicPr>
          <p:cNvPr id="16" name="Picture 15" descr="streamlit_ta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974336"/>
            <a:ext cx="585216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455724" cy="20116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3825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444751"/>
            <a:ext cx="566928" cy="56692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463039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4475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Core Language  v3.11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79392" y="1444751"/>
            <a:ext cx="566928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9392" y="1463039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79" y="144475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1783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Data Manipulation  v2.2.2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2" y="1444751"/>
            <a:ext cx="566928" cy="56692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463039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44475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783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ML Framework  v1.5.0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42032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" y="2706624"/>
            <a:ext cx="566928" cy="5669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2724912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7066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044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Web Dashboard  v1.35+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542032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79392" y="2706624"/>
            <a:ext cx="566928" cy="56692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79392" y="2724912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27066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implicit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79" y="3044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ALS Collaborative  v0.7+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542032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11312" y="2706624"/>
            <a:ext cx="566928" cy="56692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1312" y="2724912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7066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sentence-transformers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044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MiniLM Semantic  v3.0+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803904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7472" y="3968496"/>
            <a:ext cx="566928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7472" y="3986784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39684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Plotly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3068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Interactive Charts  v5.22+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803904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79392" y="3968496"/>
            <a:ext cx="566928" cy="56692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79392" y="3986784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79" y="39684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79" y="43068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ST Backend  v2.3+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3803904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11312" y="3968496"/>
            <a:ext cx="566928" cy="5669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11312" y="3986784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39684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networkx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43068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Graph Analytics  EDA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065775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47472" y="5230367"/>
            <a:ext cx="566928" cy="56692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7472" y="5248655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" y="5230367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openpyxl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5568695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Excel Ingestion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5065775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279392" y="5230367"/>
            <a:ext cx="566928" cy="566928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79392" y="5248655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83479" y="5230367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Joblib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83479" y="5568695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Model Serialisation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38160" y="5065775"/>
            <a:ext cx="3657600" cy="1078992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211312" y="5230367"/>
            <a:ext cx="566928" cy="5669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11312" y="5248655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15400" y="5230367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scipy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5568695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Sparse CSR Matrices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2B2"/>
                </a:solidFill>
              </a:rPr>
              <a:t>Project Structure: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48840" y="63093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app/  |  data/raw + data/processed  |  models/  |  notebooks/  |  reports/  |  src/  |  config/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73736"/>
            <a:ext cx="12070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Results &amp;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834640" cy="105156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B2"/>
                </a:solidFill>
              </a:rPr>
              <a:t>88.6%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4650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HitRate@10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34440"/>
            <a:ext cx="2834640" cy="105156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28016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99.2%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4650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2834640" cy="105156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4DFF"/>
                </a:solidFill>
              </a:rPr>
              <a:t>58.1%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4650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NDCG@10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234440"/>
            <a:ext cx="2834640" cy="105156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128016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96"/>
                </a:solidFill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74650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Interest
Profile
Coverage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657600" cy="18288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468880"/>
            <a:ext cx="3657600" cy="54864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Personalised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71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Hybrid engine delivers top-10 course cards ranked by blended score, with difficulty badges, domain labels, cert indicators, and engagement sparklines — all explainable.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3672" y="2468880"/>
            <a:ext cx="3657600" cy="18288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33672" y="2468880"/>
            <a:ext cx="3657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70832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Business Risk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2971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Converts ML scores into business-friendly recommendation confidence, accessible for non-technical product managers and learning experience designers.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7304" y="2468880"/>
            <a:ext cx="3657600" cy="182880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47304" y="2468880"/>
            <a:ext cx="365760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4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Interactive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29718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Real-time recommendation updates with course similarity search, domain intelligence analytics, and model evaluation heatmaps — all in one Streamlit app.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480560"/>
            <a:ext cx="11521440" cy="2011680"/>
          </a:xfrm>
          <a:prstGeom prst="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4480560"/>
            <a:ext cx="54864" cy="2011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Future Roadmap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38344"/>
            <a:ext cx="64008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" y="4983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FastAPI REST layer exposing /recommend/{user_id} for web/mobile integration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038344"/>
            <a:ext cx="64008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27648" y="49834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Dynamic CAT_MAP via LDA / zero-shot NLP topic modelling at preprocessing 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13832"/>
            <a:ext cx="64008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" y="54589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Docker containerisation for reproducible training + serving across environments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5513832"/>
            <a:ext cx="64008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27648" y="54589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Online/incremental learning for Popularity and UserInterest arms without full retraining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44183"/>
            <a:ext cx="64008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2648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A/B testing hooks in hybrid model for real-time weight regime comparison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2B2"/>
                </a:solidFill>
              </a:rPr>
              <a:t>CourseIQ — Online Course Recommendation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977639"/>
            <a:ext cx="2578608" cy="34747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995928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End-to-End ML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3977639"/>
            <a:ext cx="1975104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86200" y="3995928"/>
            <a:ext cx="19751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88.6% HitRate@10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977639"/>
            <a:ext cx="2276856" cy="34747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3995928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Streamlit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977639"/>
            <a:ext cx="1874519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3995928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Hybrid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Developed by: CourseIQ Team — P662 Capstone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8AA8"/>
                </a:solidFill>
              </a:rPr>
              <a:t>Technologies: Python  |  Scikit-learn  |  Streamlit  |  Pandas  |  sentence-transformers  |  implicit  |  Plotly  |  Joblib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2843</Words>
  <Application>Microsoft Office PowerPoint</Application>
  <PresentationFormat>Widescreen</PresentationFormat>
  <Paragraphs>424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Bhavana</dc:creator>
  <cp:keywords/>
  <dc:description>generated using python-pptx</dc:description>
  <cp:lastModifiedBy>uppala bhavana Bhavana</cp:lastModifiedBy>
  <cp:revision>3</cp:revision>
  <dcterms:created xsi:type="dcterms:W3CDTF">2013-01-27T09:14:16Z</dcterms:created>
  <dcterms:modified xsi:type="dcterms:W3CDTF">2026-04-24T09:56:30Z</dcterms:modified>
  <cp:category/>
</cp:coreProperties>
</file>